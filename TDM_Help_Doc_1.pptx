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70" r:id="rId3"/>
    <p:sldId id="273" r:id="rId4"/>
    <p:sldId id="271" r:id="rId5"/>
    <p:sldId id="272" r:id="rId6"/>
    <p:sldId id="269" r:id="rId7"/>
    <p:sldId id="274"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08"/>
      </p:cViewPr>
      <p:guideLst>
        <p:guide orient="horz" pos="2160"/>
        <p:guide pos="3840"/>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56A665-4E08-4242-87A5-D0B205C2639F}" type="datetimeFigureOut">
              <a:rPr lang="en-IN" smtClean="0"/>
              <a:t>27-12-2023</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61273F-8F4A-4769-8D58-CB6277DEC387}" type="slidenum">
              <a:rPr lang="en-IN" smtClean="0"/>
              <a:t>‹#›</a:t>
            </a:fld>
            <a:endParaRPr lang="en-IN" dirty="0"/>
          </a:p>
        </p:txBody>
      </p:sp>
    </p:spTree>
    <p:extLst>
      <p:ext uri="{BB962C8B-B14F-4D97-AF65-F5344CB8AC3E}">
        <p14:creationId xmlns:p14="http://schemas.microsoft.com/office/powerpoint/2010/main" val="34732689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37D22-9E9E-4ED0-BC91-55421231AECB}" type="datetimeFigureOut">
              <a:rPr lang="en-IN" smtClean="0"/>
              <a:t>27-12-2023</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ECD1B-70B2-4C2A-A648-323620CB9364}" type="slidenum">
              <a:rPr lang="en-IN" smtClean="0"/>
              <a:t>‹#›</a:t>
            </a:fld>
            <a:endParaRPr lang="en-IN" dirty="0"/>
          </a:p>
        </p:txBody>
      </p:sp>
    </p:spTree>
    <p:extLst>
      <p:ext uri="{BB962C8B-B14F-4D97-AF65-F5344CB8AC3E}">
        <p14:creationId xmlns:p14="http://schemas.microsoft.com/office/powerpoint/2010/main" val="87203714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grpSp>
        <p:nvGrpSpPr>
          <p:cNvPr id="10" name="Group 9"/>
          <p:cNvGrpSpPr/>
          <p:nvPr userDrawn="1"/>
        </p:nvGrpSpPr>
        <p:grpSpPr>
          <a:xfrm>
            <a:off x="0" y="-4"/>
            <a:ext cx="12195363" cy="6887421"/>
            <a:chOff x="0" y="-4"/>
            <a:chExt cx="12195363" cy="6887421"/>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
              <a:ext cx="12195362" cy="6605568"/>
            </a:xfrm>
            <a:prstGeom prst="rect">
              <a:avLst/>
            </a:prstGeom>
          </p:spPr>
        </p:pic>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4481"/>
            <a:stretch/>
          </p:blipFill>
          <p:spPr>
            <a:xfrm>
              <a:off x="0" y="6555533"/>
              <a:ext cx="12195363" cy="331884"/>
            </a:xfrm>
            <a:prstGeom prst="rect">
              <a:avLst/>
            </a:prstGeom>
          </p:spPr>
        </p:pic>
      </p:grpSp>
    </p:spTree>
    <p:extLst>
      <p:ext uri="{BB962C8B-B14F-4D97-AF65-F5344CB8AC3E}">
        <p14:creationId xmlns:p14="http://schemas.microsoft.com/office/powerpoint/2010/main" val="17904836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13" name="Group 12"/>
          <p:cNvGrpSpPr/>
          <p:nvPr userDrawn="1"/>
        </p:nvGrpSpPr>
        <p:grpSpPr>
          <a:xfrm>
            <a:off x="217958" y="6609806"/>
            <a:ext cx="2618329" cy="253740"/>
            <a:chOff x="217958" y="6609806"/>
            <a:chExt cx="2618329" cy="253740"/>
          </a:xfrm>
        </p:grpSpPr>
        <p:sp>
          <p:nvSpPr>
            <p:cNvPr id="14" name="TextBox 13"/>
            <p:cNvSpPr txBox="1"/>
            <p:nvPr/>
          </p:nvSpPr>
          <p:spPr>
            <a:xfrm>
              <a:off x="335281" y="6617325"/>
              <a:ext cx="2501006" cy="246221"/>
            </a:xfrm>
            <a:prstGeom prst="rect">
              <a:avLst/>
            </a:prstGeom>
            <a:noFill/>
          </p:spPr>
          <p:txBody>
            <a:bodyPr wrap="none" rtlCol="0">
              <a:spAutoFit/>
            </a:bodyPr>
            <a:lstStyle/>
            <a:p>
              <a:r>
                <a:rPr lang="en-IN" sz="1000" dirty="0" smtClean="0"/>
                <a:t>Copyright, Confidential, Tata Motors Limited</a:t>
              </a:r>
              <a:endParaRPr lang="en-IN" sz="1000" dirty="0"/>
            </a:p>
          </p:txBody>
        </p:sp>
        <p:grpSp>
          <p:nvGrpSpPr>
            <p:cNvPr id="16" name="Group 15"/>
            <p:cNvGrpSpPr/>
            <p:nvPr/>
          </p:nvGrpSpPr>
          <p:grpSpPr>
            <a:xfrm>
              <a:off x="217958" y="6609806"/>
              <a:ext cx="239168" cy="246221"/>
              <a:chOff x="4976949" y="3383280"/>
              <a:chExt cx="239168" cy="246221"/>
            </a:xfrm>
          </p:grpSpPr>
          <p:sp>
            <p:nvSpPr>
              <p:cNvPr id="17" name="TextBox 16"/>
              <p:cNvSpPr txBox="1"/>
              <p:nvPr/>
            </p:nvSpPr>
            <p:spPr>
              <a:xfrm>
                <a:off x="4976949" y="3383280"/>
                <a:ext cx="239168" cy="246221"/>
              </a:xfrm>
              <a:prstGeom prst="rect">
                <a:avLst/>
              </a:prstGeom>
              <a:noFill/>
            </p:spPr>
            <p:txBody>
              <a:bodyPr wrap="none" rtlCol="0">
                <a:spAutoFit/>
              </a:bodyPr>
              <a:lstStyle/>
              <a:p>
                <a:r>
                  <a:rPr lang="en-IN" sz="1000" dirty="0" smtClean="0"/>
                  <a:t>c</a:t>
                </a:r>
                <a:endParaRPr lang="en-IN" sz="1000" dirty="0"/>
              </a:p>
            </p:txBody>
          </p:sp>
          <p:sp>
            <p:nvSpPr>
              <p:cNvPr id="18" name="Oval 17"/>
              <p:cNvSpPr/>
              <p:nvPr/>
            </p:nvSpPr>
            <p:spPr>
              <a:xfrm>
                <a:off x="5033238" y="3435531"/>
                <a:ext cx="120030" cy="1314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874"/>
            <a:ext cx="12192000" cy="1143189"/>
          </a:xfrm>
          <a:prstGeom prst="rect">
            <a:avLst/>
          </a:prstGeom>
        </p:spPr>
      </p:pic>
    </p:spTree>
    <p:extLst>
      <p:ext uri="{BB962C8B-B14F-4D97-AF65-F5344CB8AC3E}">
        <p14:creationId xmlns:p14="http://schemas.microsoft.com/office/powerpoint/2010/main" val="2364466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233265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IN" dirty="0"/>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263835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IN" dirty="0"/>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2850261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IN"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56591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3767643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3445039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19262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844EE2E-B362-42C1-B5B0-711CE903CB68}" type="slidenum">
              <a:rPr lang="en-IN" smtClean="0"/>
              <a:t>‹#›</a:t>
            </a:fld>
            <a:endParaRPr lang="en-IN" dirty="0"/>
          </a:p>
        </p:txBody>
      </p:sp>
    </p:spTree>
    <p:extLst>
      <p:ext uri="{BB962C8B-B14F-4D97-AF65-F5344CB8AC3E}">
        <p14:creationId xmlns:p14="http://schemas.microsoft.com/office/powerpoint/2010/main" val="181905269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606597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4766" y="1917700"/>
            <a:ext cx="6871063" cy="159799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accent2">
                    <a:lumMod val="50000"/>
                  </a:schemeClr>
                </a:solidFill>
              </a:rPr>
              <a:t>Test Data Management Client Code </a:t>
            </a:r>
            <a:r>
              <a:rPr lang="en-US" sz="2400" b="1" smtClean="0">
                <a:solidFill>
                  <a:schemeClr val="accent2">
                    <a:lumMod val="50000"/>
                  </a:schemeClr>
                </a:solidFill>
              </a:rPr>
              <a:t>&amp; Common Issues</a:t>
            </a:r>
            <a:endParaRPr lang="en-US" sz="2400" b="1" dirty="0" smtClean="0">
              <a:solidFill>
                <a:schemeClr val="accent2">
                  <a:lumMod val="50000"/>
                </a:schemeClr>
              </a:solidFill>
            </a:endParaRPr>
          </a:p>
          <a:p>
            <a:pPr algn="ctr"/>
            <a:endParaRPr lang="en-IN" b="1" dirty="0"/>
          </a:p>
          <a:p>
            <a:pPr algn="ctr"/>
            <a:endParaRPr lang="en-IN" b="1" dirty="0"/>
          </a:p>
        </p:txBody>
      </p:sp>
    </p:spTree>
    <p:extLst>
      <p:ext uri="{BB962C8B-B14F-4D97-AF65-F5344CB8AC3E}">
        <p14:creationId xmlns:p14="http://schemas.microsoft.com/office/powerpoint/2010/main" val="580029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21" y="277586"/>
            <a:ext cx="4229100" cy="369332"/>
          </a:xfrm>
          <a:prstGeom prst="rect">
            <a:avLst/>
          </a:prstGeom>
          <a:noFill/>
        </p:spPr>
        <p:txBody>
          <a:bodyPr wrap="square" rtlCol="0">
            <a:spAutoFit/>
          </a:bodyPr>
          <a:lstStyle/>
          <a:p>
            <a:r>
              <a:rPr lang="en-US" dirty="0" smtClean="0"/>
              <a:t>Test Data Management Client codes</a:t>
            </a:r>
            <a:endParaRPr lang="en-US" dirty="0"/>
          </a:p>
        </p:txBody>
      </p:sp>
      <p:sp>
        <p:nvSpPr>
          <p:cNvPr id="6" name="Rectangle 5"/>
          <p:cNvSpPr/>
          <p:nvPr/>
        </p:nvSpPr>
        <p:spPr>
          <a:xfrm>
            <a:off x="318408" y="1538637"/>
            <a:ext cx="11691256" cy="4708981"/>
          </a:xfrm>
          <a:prstGeom prst="rect">
            <a:avLst/>
          </a:prstGeom>
        </p:spPr>
        <p:txBody>
          <a:bodyPr wrap="square">
            <a:spAutoFit/>
          </a:bodyPr>
          <a:lstStyle/>
          <a:p>
            <a:r>
              <a:rPr lang="en-US" sz="1200" dirty="0"/>
              <a:t>Please find the exes in following folder for GRN/FIR support.</a:t>
            </a:r>
          </a:p>
          <a:p>
            <a:r>
              <a:rPr lang="en-US" sz="1200" dirty="0"/>
              <a:t> </a:t>
            </a:r>
          </a:p>
          <a:p>
            <a:r>
              <a:rPr lang="en-US" sz="1200" b="1" dirty="0"/>
              <a:t>To update PDF name for FIR  :</a:t>
            </a:r>
          </a:p>
          <a:p>
            <a:r>
              <a:rPr lang="en-US" sz="1200" dirty="0"/>
              <a:t>/user/</a:t>
            </a:r>
            <a:r>
              <a:rPr lang="en-US" sz="1200" dirty="0" err="1"/>
              <a:t>omfprod</a:t>
            </a:r>
            <a:r>
              <a:rPr lang="en-US" sz="1200" dirty="0"/>
              <a:t>/</a:t>
            </a:r>
            <a:r>
              <a:rPr lang="en-US" sz="1200" dirty="0" err="1"/>
              <a:t>devgroups</a:t>
            </a:r>
            <a:r>
              <a:rPr lang="en-US" sz="1200" dirty="0"/>
              <a:t>/Ravindra/</a:t>
            </a:r>
            <a:r>
              <a:rPr lang="en-US" sz="1200" dirty="0" err="1"/>
              <a:t>UpdateFIRPDFName</a:t>
            </a:r>
            <a:r>
              <a:rPr lang="en-US" sz="1200" dirty="0" smtClean="0"/>
              <a:t>/</a:t>
            </a:r>
          </a:p>
          <a:p>
            <a:r>
              <a:rPr lang="en-US" sz="1200" dirty="0"/>
              <a:t> </a:t>
            </a:r>
          </a:p>
          <a:p>
            <a:r>
              <a:rPr lang="en-US" sz="1200" dirty="0"/>
              <a:t>CreateNUpdatePDFNameForFIR.sh “FIR/Testing-Indoor/111111/2015/158” “A” “1” “FIR_NANO”</a:t>
            </a:r>
          </a:p>
          <a:p>
            <a:r>
              <a:rPr lang="en-US" sz="1200" dirty="0"/>
              <a:t> </a:t>
            </a:r>
          </a:p>
          <a:p>
            <a:r>
              <a:rPr lang="en-US" sz="1200" b="1" dirty="0"/>
              <a:t>To update PDF name for GRN  :</a:t>
            </a:r>
          </a:p>
          <a:p>
            <a:r>
              <a:rPr lang="en-US" sz="1200" dirty="0"/>
              <a:t> </a:t>
            </a:r>
          </a:p>
          <a:p>
            <a:r>
              <a:rPr lang="en-US" sz="1200" dirty="0"/>
              <a:t>/</a:t>
            </a:r>
            <a:r>
              <a:rPr lang="en-US" sz="1200" dirty="0" smtClean="0"/>
              <a:t>user/</a:t>
            </a:r>
            <a:r>
              <a:rPr lang="en-US" sz="1200" dirty="0" err="1" smtClean="0"/>
              <a:t>omfprod</a:t>
            </a:r>
            <a:r>
              <a:rPr lang="en-US" sz="1200" dirty="0" smtClean="0"/>
              <a:t>/</a:t>
            </a:r>
            <a:r>
              <a:rPr lang="en-US" sz="1200" dirty="0" err="1" smtClean="0"/>
              <a:t>devgroups</a:t>
            </a:r>
            <a:r>
              <a:rPr lang="en-US" sz="1200" dirty="0" smtClean="0"/>
              <a:t>/Ravindra/</a:t>
            </a:r>
            <a:r>
              <a:rPr lang="en-US" sz="1200" dirty="0" err="1" smtClean="0"/>
              <a:t>UpdateGrnPdfName</a:t>
            </a:r>
            <a:r>
              <a:rPr lang="en-US" sz="1200" dirty="0" smtClean="0"/>
              <a:t>/</a:t>
            </a:r>
          </a:p>
          <a:p>
            <a:endParaRPr lang="en-US" sz="1200" dirty="0"/>
          </a:p>
          <a:p>
            <a:r>
              <a:rPr lang="en-US" sz="1200" dirty="0" smtClean="0"/>
              <a:t>CreateNUpdatePDFNameForGrn.sh </a:t>
            </a:r>
            <a:r>
              <a:rPr lang="en-US" sz="1200" dirty="0"/>
              <a:t>GRN281868406362 NR 1</a:t>
            </a:r>
          </a:p>
          <a:p>
            <a:r>
              <a:rPr lang="en-US" sz="1200" dirty="0"/>
              <a:t> </a:t>
            </a:r>
          </a:p>
          <a:p>
            <a:r>
              <a:rPr lang="en-US" sz="1200" b="1" dirty="0"/>
              <a:t>To create and merge PDF for Green report </a:t>
            </a:r>
            <a:r>
              <a:rPr lang="en-US" sz="1200" b="1" dirty="0" smtClean="0"/>
              <a:t>:  </a:t>
            </a:r>
            <a:r>
              <a:rPr lang="en-US" sz="1200" dirty="0"/>
              <a:t>if don’t want to merge edit the MakeNMergePDFforGreenReport.sh and make its attribute NO.</a:t>
            </a:r>
          </a:p>
          <a:p>
            <a:r>
              <a:rPr lang="en-US" sz="1200" dirty="0"/>
              <a:t>/user/</a:t>
            </a:r>
            <a:r>
              <a:rPr lang="en-US" sz="1200" dirty="0" err="1"/>
              <a:t>omfprod</a:t>
            </a:r>
            <a:r>
              <a:rPr lang="en-US" sz="1200" dirty="0"/>
              <a:t>/</a:t>
            </a:r>
            <a:r>
              <a:rPr lang="en-US" sz="1200" dirty="0" err="1"/>
              <a:t>devgroups</a:t>
            </a:r>
            <a:r>
              <a:rPr lang="en-US" sz="1200" dirty="0"/>
              <a:t>/Ravindra/</a:t>
            </a:r>
            <a:r>
              <a:rPr lang="en-US" sz="1200" dirty="0" err="1"/>
              <a:t>GeneratePDFForFIRGRN</a:t>
            </a:r>
            <a:r>
              <a:rPr lang="en-US" sz="1200" dirty="0" smtClean="0"/>
              <a:t>/</a:t>
            </a:r>
          </a:p>
          <a:p>
            <a:endParaRPr lang="en-US" sz="1200" dirty="0"/>
          </a:p>
          <a:p>
            <a:r>
              <a:rPr lang="en-US" sz="1200" dirty="0"/>
              <a:t>MakeNMergePDFforGreenReport.sh GRN281868406362 NR 1</a:t>
            </a:r>
          </a:p>
          <a:p>
            <a:r>
              <a:rPr lang="en-US" sz="1200" dirty="0"/>
              <a:t> </a:t>
            </a:r>
          </a:p>
          <a:p>
            <a:r>
              <a:rPr lang="en-US" sz="1200" b="1" dirty="0"/>
              <a:t>To create and merge PDF for FIR : </a:t>
            </a:r>
            <a:r>
              <a:rPr lang="en-US" sz="1200" dirty="0"/>
              <a:t>if don’t want to merge edit the MakeNMergePDFforGreenReport.sh and make its attribute NO</a:t>
            </a:r>
            <a:r>
              <a:rPr lang="en-US" sz="1200" dirty="0" smtClean="0"/>
              <a:t>.</a:t>
            </a:r>
          </a:p>
          <a:p>
            <a:endParaRPr lang="en-US" sz="1200" dirty="0"/>
          </a:p>
          <a:p>
            <a:r>
              <a:rPr lang="en-US" sz="1200" dirty="0"/>
              <a:t>/user/</a:t>
            </a:r>
            <a:r>
              <a:rPr lang="en-US" sz="1200" dirty="0" err="1"/>
              <a:t>omfprod</a:t>
            </a:r>
            <a:r>
              <a:rPr lang="en-US" sz="1200" dirty="0"/>
              <a:t>/</a:t>
            </a:r>
            <a:r>
              <a:rPr lang="en-US" sz="1200" dirty="0" err="1"/>
              <a:t>devgroups</a:t>
            </a:r>
            <a:r>
              <a:rPr lang="en-US" sz="1200" dirty="0"/>
              <a:t>/Ravindra/</a:t>
            </a:r>
            <a:r>
              <a:rPr lang="en-US" sz="1200" dirty="0" err="1"/>
              <a:t>GeneratePDFForFIRGRN</a:t>
            </a:r>
            <a:r>
              <a:rPr lang="en-US" sz="1200" dirty="0"/>
              <a:t>/</a:t>
            </a:r>
          </a:p>
          <a:p>
            <a:r>
              <a:rPr lang="en-US" sz="1200" dirty="0"/>
              <a:t>MakeNMergePDFforGreenReport.sh “FIR/Testing-Indoor/111111/2015/158” “A” “1” </a:t>
            </a:r>
          </a:p>
          <a:p>
            <a:r>
              <a:rPr lang="en-US" sz="1200" dirty="0"/>
              <a:t> </a:t>
            </a:r>
          </a:p>
          <a:p>
            <a:r>
              <a:rPr lang="en-US" sz="1200" dirty="0"/>
              <a:t>Control object name for FIR  are : </a:t>
            </a:r>
            <a:r>
              <a:rPr lang="en-US" sz="1200" dirty="0" smtClean="0"/>
              <a:t> </a:t>
            </a:r>
            <a:r>
              <a:rPr lang="en-US" sz="1200" dirty="0" err="1" smtClean="0"/>
              <a:t>CommRegInx</a:t>
            </a:r>
            <a:r>
              <a:rPr lang="en-US" sz="1200" dirty="0" smtClean="0"/>
              <a:t> </a:t>
            </a:r>
            <a:r>
              <a:rPr lang="en-US" sz="1200" dirty="0"/>
              <a:t>and FIR_(Veh </a:t>
            </a:r>
            <a:r>
              <a:rPr lang="en-US" sz="1200" dirty="0" err="1"/>
              <a:t>Prog</a:t>
            </a:r>
            <a:r>
              <a:rPr lang="en-US" sz="1200" dirty="0"/>
              <a:t> name )</a:t>
            </a:r>
          </a:p>
          <a:p>
            <a:r>
              <a:rPr lang="en-US" sz="1200" dirty="0"/>
              <a:t>Control object name for GRN  are : </a:t>
            </a:r>
            <a:r>
              <a:rPr lang="en-US" sz="1200" dirty="0" smtClean="0"/>
              <a:t> </a:t>
            </a:r>
            <a:r>
              <a:rPr lang="en-US" sz="1200" dirty="0" err="1" smtClean="0"/>
              <a:t>GRNCommRegInx</a:t>
            </a:r>
            <a:endParaRPr lang="en-US" sz="1200" dirty="0"/>
          </a:p>
        </p:txBody>
      </p:sp>
    </p:spTree>
    <p:extLst>
      <p:ext uri="{BB962C8B-B14F-4D97-AF65-F5344CB8AC3E}">
        <p14:creationId xmlns:p14="http://schemas.microsoft.com/office/powerpoint/2010/main" val="1548721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8447" y="367393"/>
            <a:ext cx="3355521" cy="369332"/>
          </a:xfrm>
          <a:prstGeom prst="rect">
            <a:avLst/>
          </a:prstGeom>
          <a:noFill/>
        </p:spPr>
        <p:txBody>
          <a:bodyPr wrap="square" rtlCol="0">
            <a:spAutoFit/>
          </a:bodyPr>
          <a:lstStyle/>
          <a:p>
            <a:pPr algn="ctr"/>
            <a:r>
              <a:rPr lang="en-US" dirty="0" smtClean="0"/>
              <a:t>PDF Report XSLs for TDM objects</a:t>
            </a:r>
            <a:endParaRPr lang="en-US" dirty="0"/>
          </a:p>
        </p:txBody>
      </p:sp>
      <p:sp>
        <p:nvSpPr>
          <p:cNvPr id="3" name="TextBox 2"/>
          <p:cNvSpPr txBox="1"/>
          <p:nvPr/>
        </p:nvSpPr>
        <p:spPr>
          <a:xfrm>
            <a:off x="73479" y="889907"/>
            <a:ext cx="11870871" cy="5447645"/>
          </a:xfrm>
          <a:prstGeom prst="rect">
            <a:avLst/>
          </a:prstGeom>
          <a:noFill/>
        </p:spPr>
        <p:txBody>
          <a:bodyPr wrap="square" rtlCol="0">
            <a:spAutoFit/>
          </a:bodyPr>
          <a:lstStyle/>
          <a:p>
            <a:r>
              <a:rPr lang="en-US" sz="1200" dirty="0" smtClean="0">
                <a:solidFill>
                  <a:schemeClr val="accent2">
                    <a:lumMod val="75000"/>
                  </a:schemeClr>
                </a:solidFill>
              </a:rPr>
              <a:t> 1)   Test Request :</a:t>
            </a:r>
          </a:p>
          <a:p>
            <a:r>
              <a:rPr lang="en-US" sz="1200" dirty="0">
                <a:solidFill>
                  <a:schemeClr val="accent2">
                    <a:lumMod val="75000"/>
                  </a:schemeClr>
                </a:solidFill>
              </a:rPr>
              <a:t> </a:t>
            </a:r>
            <a:r>
              <a:rPr lang="en-US" sz="1200" dirty="0" smtClean="0">
                <a:solidFill>
                  <a:schemeClr val="accent2">
                    <a:lumMod val="75000"/>
                  </a:schemeClr>
                </a:solidFill>
              </a:rPr>
              <a:t>      </a:t>
            </a:r>
            <a:r>
              <a:rPr lang="en-US" sz="1200" dirty="0">
                <a:solidFill>
                  <a:schemeClr val="accent2">
                    <a:lumMod val="75000"/>
                  </a:schemeClr>
                </a:solidFill>
              </a:rPr>
              <a:t>Report Writer : </a:t>
            </a:r>
            <a:r>
              <a:rPr lang="en-US" sz="1200" dirty="0" smtClean="0">
                <a:solidFill>
                  <a:schemeClr val="accent2">
                    <a:lumMod val="75000"/>
                  </a:schemeClr>
                </a:solidFill>
              </a:rPr>
              <a:t>FIR_REQUEST_REPORT</a:t>
            </a:r>
          </a:p>
          <a:p>
            <a:r>
              <a:rPr lang="en-US" sz="1200" dirty="0">
                <a:solidFill>
                  <a:schemeClr val="accent2">
                    <a:lumMod val="75000"/>
                  </a:schemeClr>
                </a:solidFill>
              </a:rPr>
              <a:t> </a:t>
            </a:r>
            <a:r>
              <a:rPr lang="en-US" sz="1200" dirty="0" smtClean="0">
                <a:solidFill>
                  <a:schemeClr val="accent2">
                    <a:lumMod val="75000"/>
                  </a:schemeClr>
                </a:solidFill>
              </a:rPr>
              <a:t>       server work location </a:t>
            </a:r>
            <a:r>
              <a:rPr lang="en-US" sz="1200" dirty="0">
                <a:solidFill>
                  <a:schemeClr val="accent2">
                    <a:lumMod val="75000"/>
                  </a:schemeClr>
                </a:solidFill>
              </a:rPr>
              <a:t>: Fir_Request_Pdf_Report</a:t>
            </a:r>
            <a:endParaRPr lang="en-US" sz="1200" dirty="0" smtClean="0">
              <a:solidFill>
                <a:schemeClr val="accent2">
                  <a:lumMod val="75000"/>
                </a:schemeClr>
              </a:solidFill>
            </a:endParaRPr>
          </a:p>
          <a:p>
            <a:r>
              <a:rPr lang="en-US" sz="1200" dirty="0">
                <a:solidFill>
                  <a:schemeClr val="accent2">
                    <a:lumMod val="75000"/>
                  </a:schemeClr>
                </a:solidFill>
              </a:rPr>
              <a:t> </a:t>
            </a:r>
            <a:r>
              <a:rPr lang="en-US" sz="1200" dirty="0" smtClean="0">
                <a:solidFill>
                  <a:schemeClr val="accent2">
                    <a:lumMod val="75000"/>
                  </a:schemeClr>
                </a:solidFill>
              </a:rPr>
              <a:t>       Shell :  /user/omfprod/shells/FIRREQUEST/makepdf.sh</a:t>
            </a:r>
            <a:endParaRPr lang="en-US" sz="1200" dirty="0">
              <a:solidFill>
                <a:schemeClr val="accent2">
                  <a:lumMod val="75000"/>
                </a:schemeClr>
              </a:solidFill>
            </a:endParaRPr>
          </a:p>
          <a:p>
            <a:r>
              <a:rPr lang="en-US" sz="1200" dirty="0" smtClean="0">
                <a:solidFill>
                  <a:schemeClr val="accent2">
                    <a:lumMod val="75000"/>
                  </a:schemeClr>
                </a:solidFill>
              </a:rPr>
              <a:t>        XSL </a:t>
            </a:r>
            <a:r>
              <a:rPr lang="en-US" sz="1200" dirty="0">
                <a:solidFill>
                  <a:schemeClr val="accent2">
                    <a:lumMod val="75000"/>
                  </a:schemeClr>
                </a:solidFill>
              </a:rPr>
              <a:t>:  /</a:t>
            </a:r>
            <a:r>
              <a:rPr lang="en-US" sz="1200" dirty="0" smtClean="0">
                <a:solidFill>
                  <a:schemeClr val="accent2">
                    <a:lumMod val="75000"/>
                  </a:schemeClr>
                </a:solidFill>
              </a:rPr>
              <a:t>user/</a:t>
            </a:r>
            <a:r>
              <a:rPr lang="en-US" sz="1200" dirty="0" err="1" smtClean="0">
                <a:solidFill>
                  <a:schemeClr val="accent2">
                    <a:lumMod val="75000"/>
                  </a:schemeClr>
                </a:solidFill>
              </a:rPr>
              <a:t>omfprod</a:t>
            </a:r>
            <a:r>
              <a:rPr lang="en-US" sz="1200" dirty="0" smtClean="0">
                <a:solidFill>
                  <a:schemeClr val="accent2">
                    <a:lumMod val="75000"/>
                  </a:schemeClr>
                </a:solidFill>
              </a:rPr>
              <a:t>/shells/FIRREQUEST/name2fo.xsl</a:t>
            </a:r>
          </a:p>
          <a:p>
            <a:endParaRPr lang="en-US" sz="1200" dirty="0">
              <a:solidFill>
                <a:schemeClr val="accent2">
                  <a:lumMod val="75000"/>
                </a:schemeClr>
              </a:solidFill>
            </a:endParaRPr>
          </a:p>
          <a:p>
            <a:r>
              <a:rPr lang="en-US" sz="1200" dirty="0" smtClean="0">
                <a:solidFill>
                  <a:schemeClr val="accent2">
                    <a:lumMod val="75000"/>
                  </a:schemeClr>
                </a:solidFill>
              </a:rPr>
              <a:t>2) Test Plan : </a:t>
            </a:r>
          </a:p>
          <a:p>
            <a:r>
              <a:rPr lang="en-US" sz="1200" dirty="0">
                <a:solidFill>
                  <a:schemeClr val="accent2">
                    <a:lumMod val="75000"/>
                  </a:schemeClr>
                </a:solidFill>
              </a:rPr>
              <a:t> </a:t>
            </a:r>
            <a:r>
              <a:rPr lang="en-US" sz="1200" dirty="0" smtClean="0">
                <a:solidFill>
                  <a:schemeClr val="accent2">
                    <a:lumMod val="75000"/>
                  </a:schemeClr>
                </a:solidFill>
              </a:rPr>
              <a:t>    Report </a:t>
            </a:r>
            <a:r>
              <a:rPr lang="en-US" sz="1200" dirty="0">
                <a:solidFill>
                  <a:schemeClr val="accent2">
                    <a:lumMod val="75000"/>
                  </a:schemeClr>
                </a:solidFill>
              </a:rPr>
              <a:t>Writer : </a:t>
            </a:r>
            <a:r>
              <a:rPr lang="en-US" sz="1200" dirty="0" err="1" smtClean="0">
                <a:solidFill>
                  <a:schemeClr val="accent2">
                    <a:lumMod val="75000"/>
                  </a:schemeClr>
                </a:solidFill>
              </a:rPr>
              <a:t>Test_Plan_Report</a:t>
            </a:r>
            <a:endParaRPr lang="en-US" sz="1200" dirty="0" smtClean="0">
              <a:solidFill>
                <a:schemeClr val="accent2">
                  <a:lumMod val="75000"/>
                </a:schemeClr>
              </a:solidFill>
            </a:endParaRPr>
          </a:p>
          <a:p>
            <a:r>
              <a:rPr lang="en-US" sz="1200" dirty="0">
                <a:solidFill>
                  <a:schemeClr val="accent2">
                    <a:lumMod val="75000"/>
                  </a:schemeClr>
                </a:solidFill>
              </a:rPr>
              <a:t> </a:t>
            </a:r>
            <a:r>
              <a:rPr lang="en-US" sz="1200" dirty="0" smtClean="0">
                <a:solidFill>
                  <a:schemeClr val="accent2">
                    <a:lumMod val="75000"/>
                  </a:schemeClr>
                </a:solidFill>
              </a:rPr>
              <a:t>   server </a:t>
            </a:r>
            <a:r>
              <a:rPr lang="en-US" sz="1200" dirty="0">
                <a:solidFill>
                  <a:schemeClr val="accent2">
                    <a:lumMod val="75000"/>
                  </a:schemeClr>
                </a:solidFill>
              </a:rPr>
              <a:t>work location : </a:t>
            </a:r>
            <a:r>
              <a:rPr lang="en-US" sz="1200" dirty="0" err="1">
                <a:solidFill>
                  <a:schemeClr val="accent2">
                    <a:lumMod val="75000"/>
                  </a:schemeClr>
                </a:solidFill>
              </a:rPr>
              <a:t>Test_Plan_Pdf_Report</a:t>
            </a:r>
            <a:endParaRPr lang="en-US" sz="1200" dirty="0" smtClean="0">
              <a:solidFill>
                <a:schemeClr val="accent2">
                  <a:lumMod val="75000"/>
                </a:schemeClr>
              </a:solidFill>
            </a:endParaRPr>
          </a:p>
          <a:p>
            <a:r>
              <a:rPr lang="en-US" sz="1200" dirty="0">
                <a:solidFill>
                  <a:schemeClr val="accent2">
                    <a:lumMod val="75000"/>
                  </a:schemeClr>
                </a:solidFill>
              </a:rPr>
              <a:t> </a:t>
            </a:r>
            <a:r>
              <a:rPr lang="en-US" sz="1200" dirty="0" smtClean="0">
                <a:solidFill>
                  <a:schemeClr val="accent2">
                    <a:lumMod val="75000"/>
                  </a:schemeClr>
                </a:solidFill>
              </a:rPr>
              <a:t>   </a:t>
            </a:r>
            <a:r>
              <a:rPr lang="en-US" sz="1200" dirty="0">
                <a:solidFill>
                  <a:schemeClr val="accent2">
                    <a:lumMod val="75000"/>
                  </a:schemeClr>
                </a:solidFill>
              </a:rPr>
              <a:t>Shell: /user/omfprod/shells/TESTPLAN/makepdf.sh</a:t>
            </a:r>
            <a:endParaRPr lang="en-US" sz="1200" dirty="0" smtClean="0">
              <a:solidFill>
                <a:schemeClr val="accent2">
                  <a:lumMod val="75000"/>
                </a:schemeClr>
              </a:solidFill>
            </a:endParaRPr>
          </a:p>
          <a:p>
            <a:r>
              <a:rPr lang="en-US" sz="1200" dirty="0">
                <a:solidFill>
                  <a:schemeClr val="accent2">
                    <a:lumMod val="75000"/>
                  </a:schemeClr>
                </a:solidFill>
              </a:rPr>
              <a:t>    XSL : /</a:t>
            </a:r>
            <a:r>
              <a:rPr lang="en-US" sz="1200" dirty="0" smtClean="0">
                <a:solidFill>
                  <a:schemeClr val="accent2">
                    <a:lumMod val="75000"/>
                  </a:schemeClr>
                </a:solidFill>
              </a:rPr>
              <a:t>user/</a:t>
            </a:r>
            <a:r>
              <a:rPr lang="en-US" sz="1200" dirty="0" err="1" smtClean="0">
                <a:solidFill>
                  <a:schemeClr val="accent2">
                    <a:lumMod val="75000"/>
                  </a:schemeClr>
                </a:solidFill>
              </a:rPr>
              <a:t>omfprod</a:t>
            </a:r>
            <a:r>
              <a:rPr lang="en-US" sz="1200" dirty="0" smtClean="0">
                <a:solidFill>
                  <a:schemeClr val="accent2">
                    <a:lumMod val="75000"/>
                  </a:schemeClr>
                </a:solidFill>
              </a:rPr>
              <a:t>/shells/TESTPLAN/name2fo.xsl</a:t>
            </a:r>
          </a:p>
          <a:p>
            <a:endParaRPr lang="en-US" sz="1200" dirty="0" smtClean="0">
              <a:solidFill>
                <a:schemeClr val="accent2">
                  <a:lumMod val="75000"/>
                </a:schemeClr>
              </a:solidFill>
            </a:endParaRPr>
          </a:p>
          <a:p>
            <a:r>
              <a:rPr lang="en-US" sz="1200" dirty="0" smtClean="0">
                <a:solidFill>
                  <a:schemeClr val="accent2">
                    <a:lumMod val="75000"/>
                  </a:schemeClr>
                </a:solidFill>
              </a:rPr>
              <a:t>3) FIR :</a:t>
            </a:r>
          </a:p>
          <a:p>
            <a:r>
              <a:rPr lang="en-US" sz="1200" dirty="0">
                <a:solidFill>
                  <a:schemeClr val="accent2">
                    <a:lumMod val="75000"/>
                  </a:schemeClr>
                </a:solidFill>
              </a:rPr>
              <a:t> </a:t>
            </a:r>
            <a:r>
              <a:rPr lang="en-US" sz="1200" dirty="0" smtClean="0">
                <a:solidFill>
                  <a:schemeClr val="accent2">
                    <a:lumMod val="75000"/>
                  </a:schemeClr>
                </a:solidFill>
              </a:rPr>
              <a:t>   Report </a:t>
            </a:r>
            <a:r>
              <a:rPr lang="en-US" sz="1200" dirty="0">
                <a:solidFill>
                  <a:schemeClr val="accent2">
                    <a:lumMod val="75000"/>
                  </a:schemeClr>
                </a:solidFill>
              </a:rPr>
              <a:t>Writer : </a:t>
            </a:r>
            <a:r>
              <a:rPr lang="en-US" sz="1200" dirty="0" smtClean="0">
                <a:solidFill>
                  <a:schemeClr val="accent2">
                    <a:lumMod val="75000"/>
                  </a:schemeClr>
                </a:solidFill>
              </a:rPr>
              <a:t>FIR_REPORT</a:t>
            </a:r>
          </a:p>
          <a:p>
            <a:r>
              <a:rPr lang="en-US" sz="1200" dirty="0" smtClean="0">
                <a:solidFill>
                  <a:schemeClr val="accent2">
                    <a:lumMod val="75000"/>
                  </a:schemeClr>
                </a:solidFill>
              </a:rPr>
              <a:t>    </a:t>
            </a:r>
            <a:r>
              <a:rPr lang="en-US" sz="1200" dirty="0">
                <a:solidFill>
                  <a:schemeClr val="accent2">
                    <a:lumMod val="75000"/>
                  </a:schemeClr>
                </a:solidFill>
              </a:rPr>
              <a:t>server work location : </a:t>
            </a:r>
            <a:r>
              <a:rPr lang="en-US" sz="1200" dirty="0" err="1">
                <a:solidFill>
                  <a:schemeClr val="accent2">
                    <a:lumMod val="75000"/>
                  </a:schemeClr>
                </a:solidFill>
              </a:rPr>
              <a:t>Mctd_pdf_report</a:t>
            </a:r>
            <a:endParaRPr lang="en-US" sz="1200" dirty="0">
              <a:solidFill>
                <a:schemeClr val="accent2">
                  <a:lumMod val="75000"/>
                </a:schemeClr>
              </a:solidFill>
            </a:endParaRPr>
          </a:p>
          <a:p>
            <a:r>
              <a:rPr lang="en-US" sz="1200" dirty="0">
                <a:solidFill>
                  <a:schemeClr val="accent2">
                    <a:lumMod val="75000"/>
                  </a:schemeClr>
                </a:solidFill>
              </a:rPr>
              <a:t>    Shell: /user/omfprod/shells/fop-1.1/FIR/MakePdfArai.sh</a:t>
            </a:r>
          </a:p>
          <a:p>
            <a:r>
              <a:rPr lang="en-US" sz="1200" dirty="0">
                <a:solidFill>
                  <a:schemeClr val="accent2">
                    <a:lumMod val="75000"/>
                  </a:schemeClr>
                </a:solidFill>
              </a:rPr>
              <a:t>    XSL : /</a:t>
            </a:r>
            <a:r>
              <a:rPr lang="en-US" sz="1200" dirty="0" smtClean="0">
                <a:solidFill>
                  <a:schemeClr val="accent2">
                    <a:lumMod val="75000"/>
                  </a:schemeClr>
                </a:solidFill>
              </a:rPr>
              <a:t>user/</a:t>
            </a:r>
            <a:r>
              <a:rPr lang="en-US" sz="1200" dirty="0" err="1" smtClean="0">
                <a:solidFill>
                  <a:schemeClr val="accent2">
                    <a:lumMod val="75000"/>
                  </a:schemeClr>
                </a:solidFill>
              </a:rPr>
              <a:t>omfprod</a:t>
            </a:r>
            <a:r>
              <a:rPr lang="en-US" sz="1200" dirty="0" smtClean="0">
                <a:solidFill>
                  <a:schemeClr val="accent2">
                    <a:lumMod val="75000"/>
                  </a:schemeClr>
                </a:solidFill>
              </a:rPr>
              <a:t>/shells/fop-1.1/FIR/</a:t>
            </a:r>
            <a:r>
              <a:rPr lang="en-US" sz="1200" dirty="0" err="1" smtClean="0">
                <a:solidFill>
                  <a:schemeClr val="accent2">
                    <a:lumMod val="75000"/>
                  </a:schemeClr>
                </a:solidFill>
              </a:rPr>
              <a:t>xsl</a:t>
            </a:r>
            <a:r>
              <a:rPr lang="en-US" sz="1200" dirty="0" smtClean="0">
                <a:solidFill>
                  <a:schemeClr val="accent2">
                    <a:lumMod val="75000"/>
                  </a:schemeClr>
                </a:solidFill>
              </a:rPr>
              <a:t>/FIR_XML_Read.xsl</a:t>
            </a:r>
          </a:p>
          <a:p>
            <a:endParaRPr lang="en-US" sz="1200" dirty="0">
              <a:solidFill>
                <a:schemeClr val="accent2">
                  <a:lumMod val="75000"/>
                </a:schemeClr>
              </a:solidFill>
            </a:endParaRPr>
          </a:p>
          <a:p>
            <a:r>
              <a:rPr lang="en-US" sz="1200" dirty="0" smtClean="0">
                <a:solidFill>
                  <a:schemeClr val="accent2">
                    <a:lumMod val="75000"/>
                  </a:schemeClr>
                </a:solidFill>
              </a:rPr>
              <a:t>4) Green Report :</a:t>
            </a:r>
          </a:p>
          <a:p>
            <a:r>
              <a:rPr lang="en-US" sz="1200" dirty="0">
                <a:solidFill>
                  <a:schemeClr val="accent2">
                    <a:lumMod val="75000"/>
                  </a:schemeClr>
                </a:solidFill>
              </a:rPr>
              <a:t> </a:t>
            </a:r>
            <a:r>
              <a:rPr lang="en-US" sz="1200" dirty="0" smtClean="0">
                <a:solidFill>
                  <a:schemeClr val="accent2">
                    <a:lumMod val="75000"/>
                  </a:schemeClr>
                </a:solidFill>
              </a:rPr>
              <a:t>    Report </a:t>
            </a:r>
            <a:r>
              <a:rPr lang="en-US" sz="1200" dirty="0">
                <a:solidFill>
                  <a:schemeClr val="accent2">
                    <a:lumMod val="75000"/>
                  </a:schemeClr>
                </a:solidFill>
              </a:rPr>
              <a:t>Writer : GREEN_REPORT</a:t>
            </a:r>
          </a:p>
          <a:p>
            <a:r>
              <a:rPr lang="en-US" sz="1200" dirty="0">
                <a:solidFill>
                  <a:schemeClr val="accent2">
                    <a:lumMod val="75000"/>
                  </a:schemeClr>
                </a:solidFill>
              </a:rPr>
              <a:t>    server work location : </a:t>
            </a:r>
            <a:r>
              <a:rPr lang="en-US" sz="1200" dirty="0" err="1">
                <a:solidFill>
                  <a:schemeClr val="accent2">
                    <a:lumMod val="75000"/>
                  </a:schemeClr>
                </a:solidFill>
              </a:rPr>
              <a:t>Mctd_pdf_report</a:t>
            </a:r>
            <a:endParaRPr lang="en-US" sz="1200" dirty="0">
              <a:solidFill>
                <a:schemeClr val="accent2">
                  <a:lumMod val="75000"/>
                </a:schemeClr>
              </a:solidFill>
            </a:endParaRPr>
          </a:p>
          <a:p>
            <a:r>
              <a:rPr lang="en-US" sz="1200" dirty="0">
                <a:solidFill>
                  <a:schemeClr val="accent2">
                    <a:lumMod val="75000"/>
                  </a:schemeClr>
                </a:solidFill>
              </a:rPr>
              <a:t>    Shell: /</a:t>
            </a:r>
            <a:r>
              <a:rPr lang="en-US" sz="1200" dirty="0" smtClean="0">
                <a:solidFill>
                  <a:schemeClr val="accent2">
                    <a:lumMod val="75000"/>
                  </a:schemeClr>
                </a:solidFill>
              </a:rPr>
              <a:t>user/omfprod/shells/fop-1.1/GRN/MakePdfArai.sh</a:t>
            </a:r>
          </a:p>
          <a:p>
            <a:r>
              <a:rPr lang="en-US" sz="1200" dirty="0" smtClean="0">
                <a:solidFill>
                  <a:schemeClr val="accent2">
                    <a:lumMod val="75000"/>
                  </a:schemeClr>
                </a:solidFill>
              </a:rPr>
              <a:t>    </a:t>
            </a:r>
            <a:r>
              <a:rPr lang="en-US" sz="1200" dirty="0">
                <a:solidFill>
                  <a:schemeClr val="accent2">
                    <a:lumMod val="75000"/>
                  </a:schemeClr>
                </a:solidFill>
              </a:rPr>
              <a:t>XSL : /</a:t>
            </a:r>
            <a:r>
              <a:rPr lang="en-US" sz="1200" dirty="0" smtClean="0">
                <a:solidFill>
                  <a:schemeClr val="accent2">
                    <a:lumMod val="75000"/>
                  </a:schemeClr>
                </a:solidFill>
              </a:rPr>
              <a:t>user/</a:t>
            </a:r>
            <a:r>
              <a:rPr lang="en-US" sz="1200" dirty="0" err="1" smtClean="0">
                <a:solidFill>
                  <a:schemeClr val="accent2">
                    <a:lumMod val="75000"/>
                  </a:schemeClr>
                </a:solidFill>
              </a:rPr>
              <a:t>omfprod</a:t>
            </a:r>
            <a:r>
              <a:rPr lang="en-US" sz="1200" dirty="0" smtClean="0">
                <a:solidFill>
                  <a:schemeClr val="accent2">
                    <a:lumMod val="75000"/>
                  </a:schemeClr>
                </a:solidFill>
              </a:rPr>
              <a:t>/shells/fop-1.1/GRN/</a:t>
            </a:r>
            <a:r>
              <a:rPr lang="en-US" sz="1200" dirty="0" err="1" smtClean="0">
                <a:solidFill>
                  <a:schemeClr val="accent2">
                    <a:lumMod val="75000"/>
                  </a:schemeClr>
                </a:solidFill>
              </a:rPr>
              <a:t>xsl</a:t>
            </a:r>
            <a:r>
              <a:rPr lang="en-US" sz="1200" dirty="0" smtClean="0">
                <a:solidFill>
                  <a:schemeClr val="accent2">
                    <a:lumMod val="75000"/>
                  </a:schemeClr>
                </a:solidFill>
              </a:rPr>
              <a:t>/GRN_XML_Read.xsl</a:t>
            </a:r>
          </a:p>
          <a:p>
            <a:endParaRPr lang="en-US" sz="1200" dirty="0">
              <a:solidFill>
                <a:schemeClr val="accent2">
                  <a:lumMod val="75000"/>
                </a:schemeClr>
              </a:solidFill>
            </a:endParaRPr>
          </a:p>
          <a:p>
            <a:r>
              <a:rPr lang="en-US" sz="1200" dirty="0" smtClean="0">
                <a:solidFill>
                  <a:schemeClr val="accent2">
                    <a:lumMod val="75000"/>
                  </a:schemeClr>
                </a:solidFill>
              </a:rPr>
              <a:t>5) CTR PDF :</a:t>
            </a:r>
          </a:p>
          <a:p>
            <a:r>
              <a:rPr lang="en-US" sz="1200" dirty="0">
                <a:solidFill>
                  <a:schemeClr val="accent2">
                    <a:lumMod val="75000"/>
                  </a:schemeClr>
                </a:solidFill>
              </a:rPr>
              <a:t> </a:t>
            </a:r>
            <a:r>
              <a:rPr lang="en-US" sz="1200" dirty="0" smtClean="0">
                <a:solidFill>
                  <a:schemeClr val="accent2">
                    <a:lumMod val="75000"/>
                  </a:schemeClr>
                </a:solidFill>
              </a:rPr>
              <a:t>Report </a:t>
            </a:r>
            <a:r>
              <a:rPr lang="en-US" sz="1200" dirty="0">
                <a:solidFill>
                  <a:schemeClr val="accent2">
                    <a:lumMod val="75000"/>
                  </a:schemeClr>
                </a:solidFill>
              </a:rPr>
              <a:t>Writer: CTR_REPORT</a:t>
            </a:r>
            <a:endParaRPr lang="en-US" sz="1200" dirty="0" smtClean="0">
              <a:solidFill>
                <a:schemeClr val="accent2">
                  <a:lumMod val="75000"/>
                </a:schemeClr>
              </a:solidFill>
            </a:endParaRPr>
          </a:p>
          <a:p>
            <a:r>
              <a:rPr lang="en-US" sz="1200" dirty="0" smtClean="0">
                <a:solidFill>
                  <a:schemeClr val="accent2">
                    <a:lumMod val="75000"/>
                  </a:schemeClr>
                </a:solidFill>
              </a:rPr>
              <a:t>Server  Work </a:t>
            </a:r>
            <a:r>
              <a:rPr lang="en-US" sz="1200" dirty="0">
                <a:solidFill>
                  <a:schemeClr val="accent2">
                    <a:lumMod val="75000"/>
                  </a:schemeClr>
                </a:solidFill>
              </a:rPr>
              <a:t>location: </a:t>
            </a:r>
            <a:r>
              <a:rPr lang="en-US" sz="1200" dirty="0" err="1">
                <a:solidFill>
                  <a:schemeClr val="accent2">
                    <a:lumMod val="75000"/>
                  </a:schemeClr>
                </a:solidFill>
              </a:rPr>
              <a:t>CTR_pdf_report</a:t>
            </a:r>
            <a:endParaRPr lang="en-US" sz="1200" dirty="0" smtClean="0">
              <a:solidFill>
                <a:schemeClr val="accent2">
                  <a:lumMod val="75000"/>
                </a:schemeClr>
              </a:solidFill>
            </a:endParaRPr>
          </a:p>
          <a:p>
            <a:r>
              <a:rPr lang="en-US" sz="1200" dirty="0" smtClean="0">
                <a:solidFill>
                  <a:schemeClr val="accent2">
                    <a:lumMod val="75000"/>
                  </a:schemeClr>
                </a:solidFill>
              </a:rPr>
              <a:t>Shell</a:t>
            </a:r>
            <a:r>
              <a:rPr lang="en-US" sz="1200">
                <a:solidFill>
                  <a:schemeClr val="accent2">
                    <a:lumMod val="75000"/>
                  </a:schemeClr>
                </a:solidFill>
              </a:rPr>
              <a:t>:  /user/omfprod/shells/CTR/shells/makepdfprod.sh</a:t>
            </a:r>
            <a:endParaRPr lang="en-US" sz="1200" dirty="0" smtClean="0">
              <a:solidFill>
                <a:schemeClr val="accent2">
                  <a:lumMod val="75000"/>
                </a:schemeClr>
              </a:solidFill>
            </a:endParaRPr>
          </a:p>
          <a:p>
            <a:r>
              <a:rPr lang="en-US" sz="1200" dirty="0" smtClean="0">
                <a:solidFill>
                  <a:schemeClr val="accent2">
                    <a:lumMod val="75000"/>
                  </a:schemeClr>
                </a:solidFill>
              </a:rPr>
              <a:t>XSL</a:t>
            </a:r>
            <a:r>
              <a:rPr lang="en-US" sz="1200" dirty="0">
                <a:solidFill>
                  <a:schemeClr val="accent2">
                    <a:lumMod val="75000"/>
                  </a:schemeClr>
                </a:solidFill>
              </a:rPr>
              <a:t>: /user/</a:t>
            </a:r>
            <a:r>
              <a:rPr lang="en-US" sz="1200" dirty="0" err="1">
                <a:solidFill>
                  <a:schemeClr val="accent2">
                    <a:lumMod val="75000"/>
                  </a:schemeClr>
                </a:solidFill>
              </a:rPr>
              <a:t>omfprod</a:t>
            </a:r>
            <a:r>
              <a:rPr lang="en-US" sz="1200" dirty="0">
                <a:solidFill>
                  <a:schemeClr val="accent2">
                    <a:lumMod val="75000"/>
                  </a:schemeClr>
                </a:solidFill>
              </a:rPr>
              <a:t>/shells/CTR/</a:t>
            </a:r>
            <a:r>
              <a:rPr lang="en-US" sz="1200" dirty="0" err="1">
                <a:solidFill>
                  <a:schemeClr val="accent2">
                    <a:lumMod val="75000"/>
                  </a:schemeClr>
                </a:solidFill>
              </a:rPr>
              <a:t>xsl</a:t>
            </a:r>
            <a:r>
              <a:rPr lang="en-US" sz="1200" dirty="0">
                <a:solidFill>
                  <a:schemeClr val="accent2">
                    <a:lumMod val="75000"/>
                  </a:schemeClr>
                </a:solidFill>
              </a:rPr>
              <a:t>/CTR_XML_Read.xsl</a:t>
            </a:r>
          </a:p>
        </p:txBody>
      </p:sp>
    </p:spTree>
    <p:extLst>
      <p:ext uri="{BB962C8B-B14F-4D97-AF65-F5344CB8AC3E}">
        <p14:creationId xmlns:p14="http://schemas.microsoft.com/office/powerpoint/2010/main" val="13683799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31079" y="396937"/>
            <a:ext cx="4343400" cy="369332"/>
          </a:xfrm>
          <a:prstGeom prst="rect">
            <a:avLst/>
          </a:prstGeom>
          <a:noFill/>
        </p:spPr>
        <p:txBody>
          <a:bodyPr wrap="square" rtlCol="0">
            <a:spAutoFit/>
          </a:bodyPr>
          <a:lstStyle/>
          <a:p>
            <a:pPr algn="ctr"/>
            <a:r>
              <a:rPr lang="en-US" dirty="0" smtClean="0"/>
              <a:t>TDM Common Issues</a:t>
            </a:r>
            <a:endParaRPr lang="en-US" dirty="0"/>
          </a:p>
        </p:txBody>
      </p:sp>
      <p:sp>
        <p:nvSpPr>
          <p:cNvPr id="3" name="TextBox 2"/>
          <p:cNvSpPr txBox="1"/>
          <p:nvPr/>
        </p:nvSpPr>
        <p:spPr>
          <a:xfrm>
            <a:off x="310242" y="987879"/>
            <a:ext cx="11707587" cy="5632311"/>
          </a:xfrm>
          <a:prstGeom prst="rect">
            <a:avLst/>
          </a:prstGeom>
          <a:noFill/>
        </p:spPr>
        <p:txBody>
          <a:bodyPr wrap="square" rtlCol="0">
            <a:spAutoFit/>
          </a:bodyPr>
          <a:lstStyle/>
          <a:p>
            <a:pPr marL="342900" indent="-342900">
              <a:buAutoNum type="arabicParenR"/>
            </a:pPr>
            <a:r>
              <a:rPr lang="en-US" b="1" dirty="0" smtClean="0">
                <a:solidFill>
                  <a:srgbClr val="FF0000"/>
                </a:solidFill>
              </a:rPr>
              <a:t>Unable to Create PDF Report or Unable to view PDF : </a:t>
            </a:r>
            <a:r>
              <a:rPr lang="en-US" dirty="0" smtClean="0">
                <a:solidFill>
                  <a:schemeClr val="accent1">
                    <a:lumMod val="75000"/>
                  </a:schemeClr>
                </a:solidFill>
              </a:rPr>
              <a:t>If user is getting not able to create or view file from server work location then run below client code exe, it will check in the files from server work location which are attached with Test Request and delete old files older than 100 days.</a:t>
            </a:r>
          </a:p>
          <a:p>
            <a:pPr marL="342900" indent="-342900">
              <a:buAutoNum type="arabicParenR"/>
            </a:pPr>
            <a:endParaRPr lang="en-US" dirty="0" smtClean="0"/>
          </a:p>
          <a:p>
            <a:pPr marL="342900" indent="-342900">
              <a:buAutoNum type="arabicParenR"/>
            </a:pPr>
            <a:endParaRPr lang="en-US" dirty="0" smtClean="0"/>
          </a:p>
          <a:p>
            <a:pPr marL="342900" indent="-342900">
              <a:buAutoNum type="arabicParenR"/>
            </a:pPr>
            <a:endParaRPr lang="en-US" dirty="0"/>
          </a:p>
          <a:p>
            <a:pPr marL="342900" indent="-342900">
              <a:buAutoNum type="arabicParenR"/>
            </a:pPr>
            <a:endParaRPr lang="en-US" dirty="0" smtClean="0"/>
          </a:p>
          <a:p>
            <a:pPr marL="342900" indent="-342900">
              <a:buAutoNum type="arabicParenR"/>
            </a:pPr>
            <a:endParaRPr lang="en-US" dirty="0"/>
          </a:p>
          <a:p>
            <a:r>
              <a:rPr lang="en-US" dirty="0" smtClean="0"/>
              <a:t>     </a:t>
            </a:r>
          </a:p>
          <a:p>
            <a:r>
              <a:rPr lang="en-US" dirty="0" smtClean="0">
                <a:solidFill>
                  <a:schemeClr val="accent1">
                    <a:lumMod val="75000"/>
                  </a:schemeClr>
                </a:solidFill>
              </a:rPr>
              <a:t>/user/</a:t>
            </a:r>
            <a:r>
              <a:rPr lang="en-US" dirty="0" err="1" smtClean="0">
                <a:solidFill>
                  <a:schemeClr val="accent1">
                    <a:lumMod val="75000"/>
                  </a:schemeClr>
                </a:solidFill>
              </a:rPr>
              <a:t>omfprod</a:t>
            </a:r>
            <a:r>
              <a:rPr lang="en-US" dirty="0" smtClean="0">
                <a:solidFill>
                  <a:schemeClr val="accent1">
                    <a:lumMod val="75000"/>
                  </a:schemeClr>
                </a:solidFill>
              </a:rPr>
              <a:t>/</a:t>
            </a:r>
            <a:r>
              <a:rPr lang="en-US" dirty="0" err="1" smtClean="0">
                <a:solidFill>
                  <a:schemeClr val="accent1">
                    <a:lumMod val="75000"/>
                  </a:schemeClr>
                </a:solidFill>
              </a:rPr>
              <a:t>devgroups</a:t>
            </a:r>
            <a:r>
              <a:rPr lang="en-US" dirty="0" smtClean="0">
                <a:solidFill>
                  <a:schemeClr val="accent1">
                    <a:lumMod val="75000"/>
                  </a:schemeClr>
                </a:solidFill>
              </a:rPr>
              <a:t>/Vitthal/</a:t>
            </a:r>
            <a:r>
              <a:rPr lang="en-US" dirty="0" err="1" smtClean="0">
                <a:solidFill>
                  <a:schemeClr val="accent1">
                    <a:lumMod val="75000"/>
                  </a:schemeClr>
                </a:solidFill>
              </a:rPr>
              <a:t>PDFReportCheckin</a:t>
            </a:r>
            <a:r>
              <a:rPr lang="en-US" dirty="0" smtClean="0">
                <a:solidFill>
                  <a:schemeClr val="accent1">
                    <a:lumMod val="75000"/>
                  </a:schemeClr>
                </a:solidFill>
              </a:rPr>
              <a:t>/</a:t>
            </a:r>
            <a:r>
              <a:rPr lang="en-US" dirty="0" err="1" smtClean="0">
                <a:solidFill>
                  <a:schemeClr val="accent1">
                    <a:lumMod val="75000"/>
                  </a:schemeClr>
                </a:solidFill>
              </a:rPr>
              <a:t>DelWorkLocData</a:t>
            </a:r>
            <a:endParaRPr lang="en-US" dirty="0" smtClean="0">
              <a:solidFill>
                <a:schemeClr val="accent1">
                  <a:lumMod val="75000"/>
                </a:schemeClr>
              </a:solidFill>
            </a:endParaRPr>
          </a:p>
          <a:p>
            <a:endParaRPr lang="en-US" dirty="0"/>
          </a:p>
          <a:p>
            <a:pPr marL="342900" indent="-342900">
              <a:buAutoNum type="arabicParenR" startAt="2"/>
            </a:pPr>
            <a:r>
              <a:rPr lang="en-US" b="1" dirty="0">
                <a:solidFill>
                  <a:srgbClr val="FF0000"/>
                </a:solidFill>
              </a:rPr>
              <a:t>Unable to Create PDF Report </a:t>
            </a:r>
            <a:r>
              <a:rPr lang="en-US" b="1" dirty="0" smtClean="0">
                <a:solidFill>
                  <a:srgbClr val="FF0000"/>
                </a:solidFill>
              </a:rPr>
              <a:t>of Test Plan : </a:t>
            </a:r>
            <a:r>
              <a:rPr lang="en-US" dirty="0" smtClean="0">
                <a:solidFill>
                  <a:schemeClr val="accent1">
                    <a:lumMod val="75000"/>
                  </a:schemeClr>
                </a:solidFill>
              </a:rPr>
              <a:t>If user is unable to create any PDF for test plan then Query the test plan and do get Item info, Test plan should contain at least one row in test case table with proper number.</a:t>
            </a:r>
          </a:p>
          <a:p>
            <a:r>
              <a:rPr lang="en-US" dirty="0"/>
              <a:t> </a:t>
            </a:r>
            <a:r>
              <a:rPr lang="en-US" dirty="0" smtClean="0"/>
              <a:t>    </a:t>
            </a:r>
          </a:p>
          <a:p>
            <a:r>
              <a:rPr lang="en-US" dirty="0"/>
              <a:t> </a:t>
            </a:r>
            <a:r>
              <a:rPr lang="en-US" dirty="0" smtClean="0"/>
              <a:t>     </a:t>
            </a:r>
            <a:r>
              <a:rPr lang="en-US" dirty="0" smtClean="0">
                <a:solidFill>
                  <a:schemeClr val="accent1">
                    <a:lumMod val="75000"/>
                  </a:schemeClr>
                </a:solidFill>
              </a:rPr>
              <a:t>Please check same pdf is present in PLM.</a:t>
            </a:r>
          </a:p>
          <a:p>
            <a:endParaRPr lang="en-US" dirty="0" smtClean="0"/>
          </a:p>
          <a:p>
            <a:r>
              <a:rPr lang="en-US" dirty="0" smtClean="0"/>
              <a:t>3)</a:t>
            </a:r>
            <a:r>
              <a:rPr lang="en-US" b="1" dirty="0">
                <a:solidFill>
                  <a:srgbClr val="FF0000"/>
                </a:solidFill>
              </a:rPr>
              <a:t> </a:t>
            </a:r>
            <a:r>
              <a:rPr lang="en-US" b="1" dirty="0" smtClean="0">
                <a:solidFill>
                  <a:srgbClr val="FF0000"/>
                </a:solidFill>
              </a:rPr>
              <a:t>Data Mismatch in Test plan PDF : </a:t>
            </a:r>
            <a:r>
              <a:rPr lang="en-US" dirty="0" smtClean="0">
                <a:solidFill>
                  <a:schemeClr val="accent1">
                    <a:lumMod val="75000"/>
                  </a:schemeClr>
                </a:solidFill>
              </a:rPr>
              <a:t>If user is saying different test cases are appearing in PDF then check for the duplicate test plan or two test plan with same test item numbers. </a:t>
            </a:r>
          </a:p>
          <a:p>
            <a:endParaRPr lang="en-US" dirty="0"/>
          </a:p>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042" y="2000931"/>
            <a:ext cx="5553075" cy="119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339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314" y="889907"/>
            <a:ext cx="11944350" cy="2862322"/>
          </a:xfrm>
          <a:prstGeom prst="rect">
            <a:avLst/>
          </a:prstGeom>
          <a:noFill/>
        </p:spPr>
        <p:txBody>
          <a:bodyPr wrap="square" rtlCol="0">
            <a:spAutoFit/>
          </a:bodyPr>
          <a:lstStyle/>
          <a:p>
            <a:r>
              <a:rPr lang="en-US" dirty="0" smtClean="0"/>
              <a:t>4) </a:t>
            </a:r>
            <a:r>
              <a:rPr lang="en-US" b="1" dirty="0" smtClean="0">
                <a:solidFill>
                  <a:srgbClr val="FF0000"/>
                </a:solidFill>
              </a:rPr>
              <a:t>Test Plan not came for cluster head approval: </a:t>
            </a:r>
            <a:r>
              <a:rPr lang="en-US" dirty="0" smtClean="0">
                <a:solidFill>
                  <a:schemeClr val="accent1">
                    <a:lumMod val="75000"/>
                  </a:schemeClr>
                </a:solidFill>
              </a:rPr>
              <a:t>Many times user raise issue that test plan not came for cluster head, in this issue user submits the test plan manually in wrong LC. Ask user to do not submit the test plan manually. System will automatically submit the test plan in LC when user sign off the assignment “ Create Test plan by analyst”</a:t>
            </a:r>
          </a:p>
          <a:p>
            <a:endParaRPr lang="en-US" dirty="0"/>
          </a:p>
          <a:p>
            <a:r>
              <a:rPr lang="en-US" dirty="0" smtClean="0">
                <a:solidFill>
                  <a:srgbClr val="FF0000"/>
                </a:solidFill>
              </a:rPr>
              <a:t>5)FIR creation Issue </a:t>
            </a:r>
            <a:r>
              <a:rPr lang="en-US" dirty="0" smtClean="0"/>
              <a:t>: </a:t>
            </a:r>
            <a:r>
              <a:rPr lang="en-US" dirty="0" smtClean="0">
                <a:solidFill>
                  <a:schemeClr val="accent1">
                    <a:lumMod val="75000"/>
                  </a:schemeClr>
                </a:solidFill>
              </a:rPr>
              <a:t>When user unable to create FIR then check previously created FIR, it should be corrected in below format </a:t>
            </a:r>
            <a:r>
              <a:rPr lang="en-US" dirty="0">
                <a:solidFill>
                  <a:schemeClr val="accent1">
                    <a:lumMod val="75000"/>
                  </a:schemeClr>
                </a:solidFill>
              </a:rPr>
              <a:t>: </a:t>
            </a:r>
            <a:r>
              <a:rPr lang="en-US" dirty="0" smtClean="0">
                <a:solidFill>
                  <a:schemeClr val="accent1">
                    <a:lumMod val="75000"/>
                  </a:schemeClr>
                </a:solidFill>
              </a:rPr>
              <a:t>FIR/Testing-Outdoor/571000/2018/904 , If latest FIR is not created in this format then delete that FIR with user confirmation or update the document name in above format – FIR/Testing </a:t>
            </a:r>
            <a:r>
              <a:rPr lang="en-US" dirty="0" err="1" smtClean="0">
                <a:solidFill>
                  <a:schemeClr val="accent1">
                    <a:lumMod val="75000"/>
                  </a:schemeClr>
                </a:solidFill>
              </a:rPr>
              <a:t>Dept</a:t>
            </a:r>
            <a:r>
              <a:rPr lang="en-US" dirty="0" smtClean="0">
                <a:solidFill>
                  <a:schemeClr val="accent1">
                    <a:lumMod val="75000"/>
                  </a:schemeClr>
                </a:solidFill>
              </a:rPr>
              <a:t>/</a:t>
            </a:r>
            <a:r>
              <a:rPr lang="en-US" dirty="0" err="1" smtClean="0">
                <a:solidFill>
                  <a:schemeClr val="accent1">
                    <a:lumMod val="75000"/>
                  </a:schemeClr>
                </a:solidFill>
              </a:rPr>
              <a:t>projectcode</a:t>
            </a:r>
            <a:r>
              <a:rPr lang="en-US" dirty="0" smtClean="0">
                <a:solidFill>
                  <a:schemeClr val="accent1">
                    <a:lumMod val="75000"/>
                  </a:schemeClr>
                </a:solidFill>
              </a:rPr>
              <a:t> </a:t>
            </a:r>
            <a:r>
              <a:rPr lang="en-US" dirty="0" err="1" smtClean="0">
                <a:solidFill>
                  <a:schemeClr val="accent1">
                    <a:lumMod val="75000"/>
                  </a:schemeClr>
                </a:solidFill>
              </a:rPr>
              <a:t>designgroup</a:t>
            </a:r>
            <a:r>
              <a:rPr lang="en-US" dirty="0" smtClean="0">
                <a:solidFill>
                  <a:schemeClr val="accent1">
                    <a:lumMod val="75000"/>
                  </a:schemeClr>
                </a:solidFill>
              </a:rPr>
              <a:t>/year/FIR No.</a:t>
            </a:r>
          </a:p>
          <a:p>
            <a:endParaRPr lang="en-US" dirty="0"/>
          </a:p>
          <a:p>
            <a:r>
              <a:rPr lang="en-US" dirty="0" smtClean="0">
                <a:solidFill>
                  <a:schemeClr val="accent1">
                    <a:lumMod val="75000"/>
                  </a:schemeClr>
                </a:solidFill>
              </a:rPr>
              <a:t>Same issue could come for test plan.</a:t>
            </a:r>
          </a:p>
          <a:p>
            <a:endParaRPr lang="en-US" dirty="0"/>
          </a:p>
        </p:txBody>
      </p:sp>
    </p:spTree>
    <p:extLst>
      <p:ext uri="{BB962C8B-B14F-4D97-AF65-F5344CB8AC3E}">
        <p14:creationId xmlns:p14="http://schemas.microsoft.com/office/powerpoint/2010/main" val="2878108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04800" y="990600"/>
            <a:ext cx="11296650" cy="5410200"/>
          </a:xfrm>
          <a:prstGeom prst="rect">
            <a:avLst/>
          </a:prstGeom>
          <a:ln>
            <a:solidFill>
              <a:schemeClr val="accent6">
                <a:lumMod val="75000"/>
              </a:schemeClr>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dirty="0" smtClean="0">
                <a:solidFill>
                  <a:schemeClr val="accent1">
                    <a:lumMod val="75000"/>
                  </a:schemeClr>
                </a:solidFill>
              </a:rPr>
              <a:t>New Changes In ODT Requests:</a:t>
            </a:r>
          </a:p>
          <a:p>
            <a:pPr marL="342900" indent="-342900">
              <a:buFont typeface="Arial" panose="020B0604020202020204" pitchFamily="34" charset="0"/>
              <a:buAutoNum type="arabicParenR"/>
            </a:pPr>
            <a:r>
              <a:rPr lang="en-IN" sz="1800" dirty="0" smtClean="0">
                <a:solidFill>
                  <a:schemeClr val="accent1">
                    <a:lumMod val="75000"/>
                  </a:schemeClr>
                </a:solidFill>
              </a:rPr>
              <a:t>If you are facing issue while assigning analyst to request, please do following update.</a:t>
            </a:r>
          </a:p>
          <a:p>
            <a:pPr marL="0" indent="0">
              <a:buNone/>
            </a:pPr>
            <a:r>
              <a:rPr lang="en-IN" sz="1800" dirty="0">
                <a:solidFill>
                  <a:schemeClr val="accent1">
                    <a:lumMod val="75000"/>
                  </a:schemeClr>
                </a:solidFill>
              </a:rPr>
              <a:t> </a:t>
            </a:r>
            <a:r>
              <a:rPr lang="en-IN" sz="1800" dirty="0" smtClean="0">
                <a:solidFill>
                  <a:schemeClr val="accent1">
                    <a:lumMod val="75000"/>
                  </a:schemeClr>
                </a:solidFill>
              </a:rPr>
              <a:t>If ODT </a:t>
            </a:r>
            <a:r>
              <a:rPr lang="en-IN" sz="1800" dirty="0">
                <a:solidFill>
                  <a:schemeClr val="accent1">
                    <a:lumMod val="75000"/>
                  </a:schemeClr>
                </a:solidFill>
              </a:rPr>
              <a:t>sub group is </a:t>
            </a:r>
            <a:r>
              <a:rPr lang="en-IN" sz="1800" dirty="0" smtClean="0">
                <a:solidFill>
                  <a:schemeClr val="accent1">
                    <a:lumMod val="75000"/>
                  </a:schemeClr>
                </a:solidFill>
              </a:rPr>
              <a:t>“TASE-Thermal </a:t>
            </a:r>
            <a:r>
              <a:rPr lang="en-IN" sz="1800" dirty="0">
                <a:solidFill>
                  <a:schemeClr val="accent1">
                    <a:lumMod val="75000"/>
                  </a:schemeClr>
                </a:solidFill>
              </a:rPr>
              <a:t>Aero System Engineering”  then update it to “TASE-Thermal Aerodynamics System Engineering</a:t>
            </a:r>
            <a:r>
              <a:rPr lang="en-IN" sz="1800" dirty="0" smtClean="0">
                <a:solidFill>
                  <a:schemeClr val="accent1">
                    <a:lumMod val="75000"/>
                  </a:schemeClr>
                </a:solidFill>
              </a:rPr>
              <a:t>” using update item option. Do Similarly for other subgroups.</a:t>
            </a:r>
          </a:p>
          <a:p>
            <a:pPr marL="0" indent="0">
              <a:buNone/>
            </a:pPr>
            <a:endParaRPr lang="en-IN" sz="1800" dirty="0">
              <a:solidFill>
                <a:schemeClr val="accent1">
                  <a:lumMod val="75000"/>
                </a:schemeClr>
              </a:solidFill>
            </a:endParaRPr>
          </a:p>
          <a:p>
            <a:pPr marL="0" indent="0">
              <a:buNone/>
            </a:pPr>
            <a:r>
              <a:rPr lang="en-IN" sz="1800" dirty="0" smtClean="0"/>
              <a:t>Old Subgroups					New Subgroups.</a:t>
            </a:r>
          </a:p>
          <a:p>
            <a:pPr marL="0" indent="0">
              <a:buNone/>
            </a:pPr>
            <a:r>
              <a:rPr lang="en-IN" sz="1800" dirty="0" smtClean="0"/>
              <a:t>“AU-Accommodation </a:t>
            </a:r>
            <a:r>
              <a:rPr lang="en-IN" sz="1800" dirty="0"/>
              <a:t>and </a:t>
            </a:r>
            <a:r>
              <a:rPr lang="en-IN" sz="1800" dirty="0" smtClean="0"/>
              <a:t>usage” </a:t>
            </a:r>
            <a:r>
              <a:rPr lang="en-IN" sz="1800" dirty="0" smtClean="0">
                <a:sym typeface="Wingdings" panose="05000000000000000000" pitchFamily="2" charset="2"/>
              </a:rPr>
              <a:t>    changed to             </a:t>
            </a:r>
            <a:r>
              <a:rPr lang="en-IN" sz="1800" dirty="0">
                <a:sym typeface="Wingdings" panose="05000000000000000000" pitchFamily="2" charset="2"/>
              </a:rPr>
              <a:t>“</a:t>
            </a:r>
            <a:r>
              <a:rPr lang="en-IN" sz="1800" dirty="0">
                <a:solidFill>
                  <a:schemeClr val="accent6">
                    <a:lumMod val="75000"/>
                  </a:schemeClr>
                </a:solidFill>
                <a:sym typeface="Wingdings" panose="05000000000000000000" pitchFamily="2" charset="2"/>
              </a:rPr>
              <a:t>UU-Utility and Usage</a:t>
            </a:r>
            <a:r>
              <a:rPr lang="en-IN" sz="1800" dirty="0" smtClean="0">
                <a:sym typeface="Wingdings" panose="05000000000000000000" pitchFamily="2" charset="2"/>
              </a:rPr>
              <a:t>”</a:t>
            </a:r>
          </a:p>
          <a:p>
            <a:pPr marL="0" indent="0">
              <a:buNone/>
            </a:pPr>
            <a:r>
              <a:rPr lang="en-IN" sz="1800" dirty="0">
                <a:sym typeface="Wingdings" panose="05000000000000000000" pitchFamily="2" charset="2"/>
              </a:rPr>
              <a:t>“COOW-Cost of ownership” </a:t>
            </a:r>
            <a:r>
              <a:rPr lang="en-IN" sz="1800" dirty="0" smtClean="0">
                <a:sym typeface="Wingdings" panose="05000000000000000000" pitchFamily="2" charset="2"/>
              </a:rPr>
              <a:t>             changed </a:t>
            </a:r>
            <a:r>
              <a:rPr lang="en-IN" sz="1800" dirty="0">
                <a:sym typeface="Wingdings" panose="05000000000000000000" pitchFamily="2" charset="2"/>
              </a:rPr>
              <a:t>to </a:t>
            </a:r>
            <a:r>
              <a:rPr lang="en-IN" sz="1800" dirty="0" smtClean="0">
                <a:sym typeface="Wingdings" panose="05000000000000000000" pitchFamily="2" charset="2"/>
              </a:rPr>
              <a:t>	         </a:t>
            </a:r>
            <a:r>
              <a:rPr lang="en-IN" sz="1800" dirty="0">
                <a:solidFill>
                  <a:schemeClr val="accent6">
                    <a:lumMod val="75000"/>
                  </a:schemeClr>
                </a:solidFill>
                <a:sym typeface="Wingdings" panose="05000000000000000000" pitchFamily="2" charset="2"/>
              </a:rPr>
              <a:t>“COO-Cost of Operations</a:t>
            </a:r>
            <a:r>
              <a:rPr lang="en-IN" sz="1800" dirty="0" smtClean="0">
                <a:solidFill>
                  <a:schemeClr val="accent6">
                    <a:lumMod val="75000"/>
                  </a:schemeClr>
                </a:solidFill>
                <a:sym typeface="Wingdings" panose="05000000000000000000" pitchFamily="2" charset="2"/>
              </a:rPr>
              <a:t>”</a:t>
            </a:r>
          </a:p>
          <a:p>
            <a:pPr marL="0" indent="0">
              <a:buNone/>
            </a:pPr>
            <a:r>
              <a:rPr lang="en-IN" sz="1800" dirty="0">
                <a:sym typeface="Wingdings" panose="05000000000000000000" pitchFamily="2" charset="2"/>
              </a:rPr>
              <a:t>“HUMI-Human Machine Interface” changed to </a:t>
            </a:r>
            <a:r>
              <a:rPr lang="en-IN" sz="1800" dirty="0" smtClean="0">
                <a:sym typeface="Wingdings" panose="05000000000000000000" pitchFamily="2" charset="2"/>
              </a:rPr>
              <a:t>             </a:t>
            </a:r>
            <a:r>
              <a:rPr lang="en-IN" sz="1800" dirty="0">
                <a:solidFill>
                  <a:schemeClr val="accent6">
                    <a:lumMod val="75000"/>
                  </a:schemeClr>
                </a:solidFill>
                <a:sym typeface="Wingdings" panose="05000000000000000000" pitchFamily="2" charset="2"/>
              </a:rPr>
              <a:t>“HMI-Human Machine Interface &amp; Connectivity</a:t>
            </a:r>
            <a:r>
              <a:rPr lang="en-IN" sz="1800" dirty="0" smtClean="0">
                <a:solidFill>
                  <a:schemeClr val="accent6">
                    <a:lumMod val="75000"/>
                  </a:schemeClr>
                </a:solidFill>
                <a:sym typeface="Wingdings" panose="05000000000000000000" pitchFamily="2" charset="2"/>
              </a:rPr>
              <a:t>”</a:t>
            </a:r>
          </a:p>
          <a:p>
            <a:pPr marL="0" indent="0">
              <a:buNone/>
            </a:pPr>
            <a:r>
              <a:rPr lang="en-IN" sz="1800" dirty="0">
                <a:sym typeface="Wingdings" panose="05000000000000000000" pitchFamily="2" charset="2"/>
              </a:rPr>
              <a:t>“DR-Durability and Reliability</a:t>
            </a:r>
            <a:r>
              <a:rPr lang="en-IN" sz="1800" dirty="0" smtClean="0">
                <a:sym typeface="Wingdings" panose="05000000000000000000" pitchFamily="2" charset="2"/>
              </a:rPr>
              <a:t>”          </a:t>
            </a:r>
            <a:r>
              <a:rPr lang="en-IN" sz="1800" dirty="0">
                <a:sym typeface="Wingdings" panose="05000000000000000000" pitchFamily="2" charset="2"/>
              </a:rPr>
              <a:t>changed to </a:t>
            </a:r>
            <a:r>
              <a:rPr lang="en-IN" sz="1800" dirty="0" smtClean="0">
                <a:sym typeface="Wingdings" panose="05000000000000000000" pitchFamily="2" charset="2"/>
              </a:rPr>
              <a:t>            </a:t>
            </a:r>
            <a:r>
              <a:rPr lang="en-IN" sz="1800" dirty="0">
                <a:solidFill>
                  <a:schemeClr val="accent6">
                    <a:lumMod val="75000"/>
                  </a:schemeClr>
                </a:solidFill>
                <a:sym typeface="Wingdings" panose="05000000000000000000" pitchFamily="2" charset="2"/>
              </a:rPr>
              <a:t>“DR-Durability and Reliability</a:t>
            </a:r>
            <a:r>
              <a:rPr lang="en-IN" sz="1800" dirty="0" smtClean="0">
                <a:solidFill>
                  <a:schemeClr val="accent6">
                    <a:lumMod val="75000"/>
                  </a:schemeClr>
                </a:solidFill>
                <a:sym typeface="Wingdings" panose="05000000000000000000" pitchFamily="2" charset="2"/>
              </a:rPr>
              <a:t>”</a:t>
            </a:r>
          </a:p>
          <a:p>
            <a:pPr marL="0" indent="0">
              <a:buNone/>
            </a:pPr>
            <a:endParaRPr lang="en-IN" sz="1800" dirty="0">
              <a:solidFill>
                <a:schemeClr val="accent6">
                  <a:lumMod val="75000"/>
                </a:schemeClr>
              </a:solidFill>
              <a:sym typeface="Wingdings" panose="05000000000000000000" pitchFamily="2" charset="2"/>
            </a:endParaRPr>
          </a:p>
          <a:p>
            <a:pPr marL="0" indent="0">
              <a:buNone/>
            </a:pPr>
            <a:r>
              <a:rPr lang="en-IN" sz="1800" dirty="0">
                <a:solidFill>
                  <a:srgbClr val="FF0000"/>
                </a:solidFill>
              </a:rPr>
              <a:t>** Creator of Request can update the same</a:t>
            </a:r>
            <a:r>
              <a:rPr lang="en-IN" sz="1800" dirty="0" smtClean="0">
                <a:solidFill>
                  <a:srgbClr val="FF0000"/>
                </a:solidFill>
              </a:rPr>
              <a:t>.</a:t>
            </a:r>
            <a:endParaRPr lang="en-IN" sz="1800" dirty="0"/>
          </a:p>
          <a:p>
            <a:pPr marL="0" indent="0">
              <a:buNone/>
            </a:pPr>
            <a:endParaRPr lang="en-IN" sz="1800" dirty="0" smtClean="0">
              <a:solidFill>
                <a:schemeClr val="accent6">
                  <a:lumMod val="75000"/>
                </a:schemeClr>
              </a:solidFill>
              <a:sym typeface="Wingdings" panose="05000000000000000000" pitchFamily="2" charset="2"/>
            </a:endParaRPr>
          </a:p>
          <a:p>
            <a:pPr marL="0" indent="0">
              <a:buNone/>
            </a:pPr>
            <a:endParaRPr lang="en-IN" sz="1800" dirty="0">
              <a:sym typeface="Wingdings" panose="05000000000000000000" pitchFamily="2" charset="2"/>
            </a:endParaRPr>
          </a:p>
          <a:p>
            <a:pPr marL="0" indent="0">
              <a:buNone/>
            </a:pPr>
            <a:endParaRPr lang="en-IN" sz="1800" dirty="0" smtClean="0"/>
          </a:p>
          <a:p>
            <a:pPr marL="0" indent="0">
              <a:buNone/>
            </a:pPr>
            <a:endParaRPr lang="en-IN" sz="1800" dirty="0"/>
          </a:p>
          <a:p>
            <a:pPr marL="0" indent="0">
              <a:buNone/>
            </a:pPr>
            <a:endParaRPr lang="en-IN" sz="1800" dirty="0"/>
          </a:p>
        </p:txBody>
      </p:sp>
      <p:sp>
        <p:nvSpPr>
          <p:cNvPr id="8" name="Title 1"/>
          <p:cNvSpPr txBox="1">
            <a:spLocks/>
          </p:cNvSpPr>
          <p:nvPr/>
        </p:nvSpPr>
        <p:spPr>
          <a:xfrm>
            <a:off x="4438637" y="299357"/>
            <a:ext cx="3352823" cy="381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smtClean="0">
                <a:solidFill>
                  <a:srgbClr val="FF0000"/>
                </a:solidFill>
              </a:rPr>
              <a:t>Testing-Outdoor Changes</a:t>
            </a:r>
            <a:endParaRPr lang="en-IN" sz="2400" b="1" dirty="0">
              <a:solidFill>
                <a:srgbClr val="FF0000"/>
              </a:solidFill>
            </a:endParaRPr>
          </a:p>
        </p:txBody>
      </p:sp>
    </p:spTree>
    <p:extLst>
      <p:ext uri="{BB962C8B-B14F-4D97-AF65-F5344CB8AC3E}">
        <p14:creationId xmlns:p14="http://schemas.microsoft.com/office/powerpoint/2010/main" val="26233757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49486" y="302079"/>
            <a:ext cx="3486150" cy="369332"/>
          </a:xfrm>
          <a:prstGeom prst="rect">
            <a:avLst/>
          </a:prstGeom>
          <a:noFill/>
        </p:spPr>
        <p:txBody>
          <a:bodyPr wrap="square" rtlCol="0">
            <a:spAutoFit/>
          </a:bodyPr>
          <a:lstStyle/>
          <a:p>
            <a:r>
              <a:rPr lang="en-US" dirty="0" smtClean="0">
                <a:solidFill>
                  <a:srgbClr val="00B050"/>
                </a:solidFill>
              </a:rPr>
              <a:t>Adding New Approver Name in XSL</a:t>
            </a:r>
            <a:endParaRPr lang="en-US" dirty="0">
              <a:solidFill>
                <a:srgbClr val="00B050"/>
              </a:solidFill>
            </a:endParaRPr>
          </a:p>
        </p:txBody>
      </p:sp>
      <p:sp>
        <p:nvSpPr>
          <p:cNvPr id="3" name="TextBox 2"/>
          <p:cNvSpPr txBox="1"/>
          <p:nvPr/>
        </p:nvSpPr>
        <p:spPr>
          <a:xfrm>
            <a:off x="0" y="1085850"/>
            <a:ext cx="11715750" cy="4616648"/>
          </a:xfrm>
          <a:prstGeom prst="rect">
            <a:avLst/>
          </a:prstGeom>
          <a:noFill/>
        </p:spPr>
        <p:txBody>
          <a:bodyPr wrap="square" rtlCol="0">
            <a:spAutoFit/>
          </a:bodyPr>
          <a:lstStyle/>
          <a:p>
            <a:r>
              <a:rPr lang="en-US" sz="1400" dirty="0" smtClean="0">
                <a:solidFill>
                  <a:schemeClr val="accent1">
                    <a:lumMod val="75000"/>
                  </a:schemeClr>
                </a:solidFill>
              </a:rPr>
              <a:t>Add new Approver Name and his signature in XSL for Stamping :</a:t>
            </a:r>
          </a:p>
          <a:p>
            <a:endParaRPr lang="en-US" sz="1400" dirty="0">
              <a:solidFill>
                <a:schemeClr val="accent1">
                  <a:lumMod val="75000"/>
                </a:schemeClr>
              </a:solidFill>
            </a:endParaRPr>
          </a:p>
          <a:p>
            <a:r>
              <a:rPr lang="en-US" sz="1400" dirty="0" smtClean="0">
                <a:solidFill>
                  <a:schemeClr val="accent1">
                    <a:lumMod val="75000"/>
                  </a:schemeClr>
                </a:solidFill>
              </a:rPr>
              <a:t>Get Below Data of approver : </a:t>
            </a:r>
          </a:p>
          <a:p>
            <a:r>
              <a:rPr lang="en-US" sz="1400" dirty="0" smtClean="0">
                <a:solidFill>
                  <a:schemeClr val="accent1">
                    <a:lumMod val="75000"/>
                  </a:schemeClr>
                </a:solidFill>
              </a:rPr>
              <a:t>1)Approver  PLM login ID.</a:t>
            </a:r>
          </a:p>
          <a:p>
            <a:r>
              <a:rPr lang="en-US" sz="1400" dirty="0" smtClean="0">
                <a:solidFill>
                  <a:schemeClr val="accent1">
                    <a:lumMod val="75000"/>
                  </a:schemeClr>
                </a:solidFill>
              </a:rPr>
              <a:t>2)Approver Role(Creator, Group Head, </a:t>
            </a:r>
            <a:r>
              <a:rPr lang="en-US" sz="1400" dirty="0" err="1" smtClean="0">
                <a:solidFill>
                  <a:schemeClr val="accent1">
                    <a:lumMod val="75000"/>
                  </a:schemeClr>
                </a:solidFill>
              </a:rPr>
              <a:t>Dept</a:t>
            </a:r>
            <a:r>
              <a:rPr lang="en-US" sz="1400" dirty="0" smtClean="0">
                <a:solidFill>
                  <a:schemeClr val="accent1">
                    <a:lumMod val="75000"/>
                  </a:schemeClr>
                </a:solidFill>
              </a:rPr>
              <a:t> Head </a:t>
            </a:r>
            <a:r>
              <a:rPr lang="en-US" sz="1400" dirty="0" err="1" smtClean="0">
                <a:solidFill>
                  <a:schemeClr val="accent1">
                    <a:lumMod val="75000"/>
                  </a:schemeClr>
                </a:solidFill>
              </a:rPr>
              <a:t>etc</a:t>
            </a:r>
            <a:r>
              <a:rPr lang="en-US" sz="1400" dirty="0" smtClean="0">
                <a:solidFill>
                  <a:schemeClr val="accent1">
                    <a:lumMod val="75000"/>
                  </a:schemeClr>
                </a:solidFill>
              </a:rPr>
              <a:t>).</a:t>
            </a:r>
          </a:p>
          <a:p>
            <a:r>
              <a:rPr lang="en-US" sz="1400" dirty="0" smtClean="0">
                <a:solidFill>
                  <a:schemeClr val="accent1">
                    <a:lumMod val="75000"/>
                  </a:schemeClr>
                </a:solidFill>
              </a:rPr>
              <a:t>3)Image of signature</a:t>
            </a:r>
          </a:p>
          <a:p>
            <a:endParaRPr lang="en-US" sz="1400" dirty="0">
              <a:solidFill>
                <a:schemeClr val="accent1">
                  <a:lumMod val="75000"/>
                </a:schemeClr>
              </a:solidFill>
            </a:endParaRPr>
          </a:p>
          <a:p>
            <a:r>
              <a:rPr lang="en-US" sz="1400" dirty="0" smtClean="0">
                <a:solidFill>
                  <a:schemeClr val="accent1">
                    <a:lumMod val="75000"/>
                  </a:schemeClr>
                </a:solidFill>
              </a:rPr>
              <a:t>It will be same for all objects(Test plan, FIR, Green Report).</a:t>
            </a:r>
          </a:p>
          <a:p>
            <a:endParaRPr lang="en-US" sz="1400" dirty="0">
              <a:solidFill>
                <a:schemeClr val="accent1">
                  <a:lumMod val="75000"/>
                </a:schemeClr>
              </a:solidFill>
            </a:endParaRPr>
          </a:p>
          <a:p>
            <a:r>
              <a:rPr lang="en-US" sz="1400" dirty="0" smtClean="0">
                <a:solidFill>
                  <a:schemeClr val="accent1">
                    <a:lumMod val="75000"/>
                  </a:schemeClr>
                </a:solidFill>
              </a:rPr>
              <a:t>To add any new user add below tag :</a:t>
            </a:r>
          </a:p>
          <a:p>
            <a:r>
              <a:rPr lang="en-US" sz="1400" dirty="0" err="1" smtClean="0">
                <a:solidFill>
                  <a:schemeClr val="accent1">
                    <a:lumMod val="75000"/>
                  </a:schemeClr>
                </a:solidFill>
              </a:rPr>
              <a:t>e.g</a:t>
            </a:r>
            <a:r>
              <a:rPr lang="en-US" sz="1400" dirty="0" smtClean="0">
                <a:solidFill>
                  <a:schemeClr val="accent1">
                    <a:lumMod val="75000"/>
                  </a:schemeClr>
                </a:solidFill>
              </a:rPr>
              <a:t>: To add new group head for FIR</a:t>
            </a:r>
          </a:p>
          <a:p>
            <a:endParaRPr lang="en-US" sz="1400" dirty="0"/>
          </a:p>
          <a:p>
            <a:r>
              <a:rPr lang="en-US" sz="1400" dirty="0"/>
              <a:t> </a:t>
            </a:r>
            <a:r>
              <a:rPr lang="en-US" sz="1400" dirty="0" smtClean="0"/>
              <a:t>	</a:t>
            </a:r>
            <a:r>
              <a:rPr lang="en-US" sz="1400" dirty="0" smtClean="0">
                <a:solidFill>
                  <a:srgbClr val="FF0000"/>
                </a:solidFill>
              </a:rPr>
              <a:t>&lt;</a:t>
            </a:r>
            <a:r>
              <a:rPr lang="en-US" sz="1400" dirty="0" err="1">
                <a:solidFill>
                  <a:srgbClr val="FF0000"/>
                </a:solidFill>
              </a:rPr>
              <a:t>xsl:if</a:t>
            </a:r>
            <a:r>
              <a:rPr lang="en-US" sz="1400" dirty="0">
                <a:solidFill>
                  <a:srgbClr val="FF0000"/>
                </a:solidFill>
              </a:rPr>
              <a:t> test ="contains('Anand </a:t>
            </a:r>
            <a:r>
              <a:rPr lang="en-US" sz="1400" dirty="0" err="1">
                <a:solidFill>
                  <a:srgbClr val="FF0000"/>
                </a:solidFill>
              </a:rPr>
              <a:t>Vijayakumar</a:t>
            </a:r>
            <a:r>
              <a:rPr lang="en-US" sz="1400" dirty="0">
                <a:solidFill>
                  <a:srgbClr val="FF0000"/>
                </a:solidFill>
              </a:rPr>
              <a:t>',$</a:t>
            </a:r>
            <a:r>
              <a:rPr lang="en-US" sz="1400" dirty="0" err="1">
                <a:solidFill>
                  <a:srgbClr val="FF0000"/>
                </a:solidFill>
              </a:rPr>
              <a:t>GrpHead</a:t>
            </a:r>
            <a:r>
              <a:rPr lang="en-US" sz="1400" dirty="0" smtClean="0">
                <a:solidFill>
                  <a:srgbClr val="FF0000"/>
                </a:solidFill>
              </a:rPr>
              <a:t>)"&gt;</a:t>
            </a:r>
            <a:r>
              <a:rPr lang="en-US" sz="1400" dirty="0">
                <a:solidFill>
                  <a:srgbClr val="FF0000"/>
                </a:solidFill>
              </a:rPr>
              <a:t>						</a:t>
            </a:r>
            <a:r>
              <a:rPr lang="en-US" sz="1400" dirty="0" smtClean="0">
                <a:solidFill>
                  <a:srgbClr val="FF0000"/>
                </a:solidFill>
              </a:rPr>
              <a:t>		&lt;</a:t>
            </a:r>
            <a:r>
              <a:rPr lang="en-US" sz="1400" dirty="0" err="1">
                <a:solidFill>
                  <a:srgbClr val="FF0000"/>
                </a:solidFill>
              </a:rPr>
              <a:t>fo:external-graphic</a:t>
            </a:r>
            <a:r>
              <a:rPr lang="en-US" sz="1400" dirty="0">
                <a:solidFill>
                  <a:srgbClr val="FF0000"/>
                </a:solidFill>
              </a:rPr>
              <a:t> content-width="scale-to-fit"  content-height="90%"  width="90%" </a:t>
            </a:r>
            <a:r>
              <a:rPr lang="en-US" sz="1400" dirty="0" err="1">
                <a:solidFill>
                  <a:srgbClr val="FF0000"/>
                </a:solidFill>
              </a:rPr>
              <a:t>src</a:t>
            </a:r>
            <a:r>
              <a:rPr lang="en-US" sz="1400" dirty="0">
                <a:solidFill>
                  <a:srgbClr val="FF0000"/>
                </a:solidFill>
              </a:rPr>
              <a:t>="/user/</a:t>
            </a:r>
            <a:r>
              <a:rPr lang="en-US" sz="1400" dirty="0" err="1">
                <a:solidFill>
                  <a:srgbClr val="FF0000"/>
                </a:solidFill>
              </a:rPr>
              <a:t>omfprod</a:t>
            </a:r>
            <a:r>
              <a:rPr lang="en-US" sz="1400" dirty="0">
                <a:solidFill>
                  <a:srgbClr val="FF0000"/>
                </a:solidFill>
              </a:rPr>
              <a:t>/shells/CTR/images/vaa255794.png"/&gt;</a:t>
            </a:r>
          </a:p>
          <a:p>
            <a:r>
              <a:rPr lang="en-US" sz="1400" dirty="0">
                <a:solidFill>
                  <a:srgbClr val="FF0000"/>
                </a:solidFill>
              </a:rPr>
              <a:t>	</a:t>
            </a:r>
            <a:r>
              <a:rPr lang="en-US" sz="1400" dirty="0" smtClean="0">
                <a:solidFill>
                  <a:srgbClr val="FF0000"/>
                </a:solidFill>
              </a:rPr>
              <a:t> &lt;/</a:t>
            </a:r>
            <a:r>
              <a:rPr lang="en-US" sz="1400" dirty="0" err="1">
                <a:solidFill>
                  <a:srgbClr val="FF0000"/>
                </a:solidFill>
              </a:rPr>
              <a:t>xsl:if</a:t>
            </a:r>
            <a:r>
              <a:rPr lang="en-US" sz="1400" dirty="0" smtClean="0">
                <a:solidFill>
                  <a:srgbClr val="FF0000"/>
                </a:solidFill>
              </a:rPr>
              <a:t>&gt;</a:t>
            </a:r>
          </a:p>
          <a:p>
            <a:endParaRPr lang="en-US" sz="1400" dirty="0" smtClean="0"/>
          </a:p>
          <a:p>
            <a:r>
              <a:rPr lang="en-US" sz="1400" dirty="0" smtClean="0">
                <a:solidFill>
                  <a:schemeClr val="accent1">
                    <a:lumMod val="75000"/>
                  </a:schemeClr>
                </a:solidFill>
              </a:rPr>
              <a:t>Open the XSL File of respective object and insert above tag under the appropriate role.</a:t>
            </a:r>
          </a:p>
          <a:p>
            <a:endParaRPr lang="en-US" sz="1400" dirty="0">
              <a:solidFill>
                <a:schemeClr val="accent1">
                  <a:lumMod val="75000"/>
                </a:schemeClr>
              </a:solidFill>
            </a:endParaRPr>
          </a:p>
          <a:p>
            <a:r>
              <a:rPr lang="en-US" sz="1400" dirty="0" smtClean="0">
                <a:solidFill>
                  <a:schemeClr val="accent1">
                    <a:lumMod val="75000"/>
                  </a:schemeClr>
                </a:solidFill>
              </a:rPr>
              <a:t>Copy the image of signature on following path  : </a:t>
            </a:r>
            <a:r>
              <a:rPr lang="en-US" sz="1400" dirty="0">
                <a:solidFill>
                  <a:schemeClr val="accent1">
                    <a:lumMod val="75000"/>
                  </a:schemeClr>
                </a:solidFill>
              </a:rPr>
              <a:t>user/</a:t>
            </a:r>
            <a:r>
              <a:rPr lang="en-US" sz="1400" dirty="0" err="1">
                <a:solidFill>
                  <a:schemeClr val="accent1">
                    <a:lumMod val="75000"/>
                  </a:schemeClr>
                </a:solidFill>
              </a:rPr>
              <a:t>omfprod</a:t>
            </a:r>
            <a:r>
              <a:rPr lang="en-US" sz="1400" dirty="0">
                <a:solidFill>
                  <a:schemeClr val="accent1">
                    <a:lumMod val="75000"/>
                  </a:schemeClr>
                </a:solidFill>
              </a:rPr>
              <a:t>/shells/CTR/images</a:t>
            </a:r>
            <a:r>
              <a:rPr lang="en-US" sz="1400" dirty="0" smtClean="0">
                <a:solidFill>
                  <a:schemeClr val="accent1">
                    <a:lumMod val="75000"/>
                  </a:schemeClr>
                </a:solidFill>
              </a:rPr>
              <a:t>/</a:t>
            </a:r>
          </a:p>
          <a:p>
            <a:endParaRPr lang="en-US" sz="1400" dirty="0" smtClean="0">
              <a:solidFill>
                <a:schemeClr val="accent1">
                  <a:lumMod val="75000"/>
                </a:schemeClr>
              </a:solidFill>
            </a:endParaRPr>
          </a:p>
          <a:p>
            <a:r>
              <a:rPr lang="en-US" sz="1400" dirty="0" smtClean="0"/>
              <a:t> </a:t>
            </a:r>
            <a:endParaRPr lang="en-US" sz="1400"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1288473" y="1529541"/>
            <a:ext cx="1662546" cy="1494463"/>
          </a:xfrm>
          <a:prstGeom prst="rect">
            <a:avLst/>
          </a:prstGeom>
        </p:spPr>
      </p:pic>
    </p:spTree>
    <p:extLst>
      <p:ext uri="{BB962C8B-B14F-4D97-AF65-F5344CB8AC3E}">
        <p14:creationId xmlns:p14="http://schemas.microsoft.com/office/powerpoint/2010/main" val="35831925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586753" y="6550223"/>
            <a:ext cx="328936" cy="261610"/>
          </a:xfrm>
          <a:prstGeom prst="rect">
            <a:avLst/>
          </a:prstGeom>
          <a:noFill/>
        </p:spPr>
        <p:txBody>
          <a:bodyPr wrap="none" rtlCol="0">
            <a:spAutoFit/>
          </a:bodyPr>
          <a:lstStyle/>
          <a:p>
            <a:r>
              <a:rPr lang="en-IN" sz="1100" dirty="0" smtClean="0"/>
              <a:t>01</a:t>
            </a:r>
            <a:endParaRPr lang="en-IN" sz="1100" dirty="0"/>
          </a:p>
        </p:txBody>
      </p:sp>
      <p:cxnSp>
        <p:nvCxnSpPr>
          <p:cNvPr id="8" name="Straight Connector 7"/>
          <p:cNvCxnSpPr/>
          <p:nvPr/>
        </p:nvCxnSpPr>
        <p:spPr>
          <a:xfrm>
            <a:off x="2808514" y="6550223"/>
            <a:ext cx="0" cy="3077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272796" y="2276917"/>
            <a:ext cx="4707742" cy="2653405"/>
          </a:xfrm>
          <a:prstGeom prst="rect">
            <a:avLst/>
          </a:prstGeom>
          <a:solidFill>
            <a:schemeClr val="accent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smtClean="0">
                <a:solidFill>
                  <a:srgbClr val="002060"/>
                </a:solidFill>
              </a:rPr>
              <a:t>Thank You.!!</a:t>
            </a:r>
            <a:endParaRPr lang="en-US" sz="4000" b="1" dirty="0">
              <a:solidFill>
                <a:srgbClr val="002060"/>
              </a:solidFill>
            </a:endParaRPr>
          </a:p>
        </p:txBody>
      </p:sp>
    </p:spTree>
    <p:extLst>
      <p:ext uri="{BB962C8B-B14F-4D97-AF65-F5344CB8AC3E}">
        <p14:creationId xmlns:p14="http://schemas.microsoft.com/office/powerpoint/2010/main" val="2729230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2289</TotalTime>
  <Words>871</Words>
  <Application>Microsoft Office PowerPoint</Application>
  <PresentationFormat>Widescreen</PresentationFormat>
  <Paragraphs>115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BORKAR [ Mumbai , Mumbai Corporate ]</dc:creator>
  <cp:lastModifiedBy>Akshay Toke (TTL)</cp:lastModifiedBy>
  <cp:revision>265</cp:revision>
  <dcterms:created xsi:type="dcterms:W3CDTF">2017-08-02T10:50:36Z</dcterms:created>
  <dcterms:modified xsi:type="dcterms:W3CDTF">2023-12-27T08:32:50Z</dcterms:modified>
</cp:coreProperties>
</file>