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8" r:id="rId3"/>
    <p:sldId id="270" r:id="rId4"/>
    <p:sldId id="271" r:id="rId5"/>
    <p:sldId id="273" r:id="rId6"/>
    <p:sldId id="275" r:id="rId7"/>
    <p:sldId id="259" r:id="rId8"/>
    <p:sldId id="265" r:id="rId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00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AE7250-E017-47BE-9411-A97AB23BEDB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587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1CF1C9-4E1E-4FB6-ABE1-66E838B8AAC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6536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1D43BD-7B52-4E91-9486-6123CB68E9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4140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B1DF76-8212-4F47-9B57-4A00BCB3832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1127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C6C9DD-2107-431F-8E1D-E565B14AC37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8192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16B5CC-19A0-40DD-A8F0-977B02ACF1A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4270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0B7224-8EC8-449F-99A8-79B1E077AE2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9307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E687AD-3920-429C-B086-DB6E5D6562E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1441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5D7CAA-C9E4-45C5-84B4-768BC9A62D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7031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32CD45-D1EB-451A-BC7C-FF21626BDE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7930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170332-1191-424D-A25E-AB49BBAED4F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6293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40099C82-CBF9-4074-8082-BCAC82B175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21336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2400" b="1" smtClean="0">
                <a:solidFill>
                  <a:schemeClr val="accent2"/>
                </a:solidFill>
                <a:latin typeface="Times New Roman" panose="02020603050405020304" pitchFamily="18" charset="0"/>
              </a:rPr>
              <a:t>STEPS FOR CREATING WEBSERVICES IN PLM-TCE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4"/>
          <p:cNvSpPr>
            <a:spLocks noChangeArrowheads="1"/>
          </p:cNvSpPr>
          <p:nvPr/>
        </p:nvSpPr>
        <p:spPr bwMode="auto">
          <a:xfrm>
            <a:off x="533400" y="609600"/>
            <a:ext cx="6629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chemeClr val="accent2"/>
                </a:solidFill>
                <a:latin typeface="Times New Roman" panose="02020603050405020304" pitchFamily="18" charset="0"/>
              </a:rPr>
              <a:t/>
            </a:r>
            <a:br>
              <a:rPr lang="en-US" altLang="en-US" sz="1400" b="1">
                <a:solidFill>
                  <a:schemeClr val="accent2"/>
                </a:solidFill>
                <a:latin typeface="Times New Roman" panose="02020603050405020304" pitchFamily="18" charset="0"/>
              </a:rPr>
            </a:br>
            <a:r>
              <a:rPr lang="en-US" altLang="en-US" sz="1400" b="1">
                <a:solidFill>
                  <a:schemeClr val="accent2"/>
                </a:solidFill>
                <a:latin typeface="Times New Roman" panose="02020603050405020304" pitchFamily="18" charset="0"/>
              </a:rPr>
              <a:t> 1. Create a working directory in your Linux environment &lt;Work_dir&gt;</a:t>
            </a:r>
            <a:br>
              <a:rPr lang="en-US" altLang="en-US" sz="1400" b="1">
                <a:solidFill>
                  <a:schemeClr val="accent2"/>
                </a:solidFill>
                <a:latin typeface="Times New Roman" panose="02020603050405020304" pitchFamily="18" charset="0"/>
              </a:rPr>
            </a:br>
            <a:r>
              <a:rPr lang="en-US" altLang="en-US" sz="1400" b="1">
                <a:solidFill>
                  <a:schemeClr val="accent2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en-US" sz="1200">
                <a:solidFill>
                  <a:schemeClr val="accent2"/>
                </a:solidFill>
                <a:latin typeface="Times New Roman" panose="02020603050405020304" pitchFamily="18" charset="0"/>
              </a:rPr>
              <a:t>plmpapp2c3 omf9dev [rsm] $ mkdir webservice_partRevdetails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accent2"/>
                </a:solidFill>
                <a:latin typeface="Times New Roman" panose="02020603050405020304" pitchFamily="18" charset="0"/>
              </a:rPr>
              <a:t>      plmpapp2c3 omf9dev [rsm] $ cd webservice_partRevdetails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accent2"/>
                </a:solidFill>
                <a:latin typeface="Times New Roman" panose="02020603050405020304" pitchFamily="18" charset="0"/>
              </a:rPr>
              <a:t/>
            </a:r>
            <a:br>
              <a:rPr lang="en-US" altLang="en-US" sz="1400">
                <a:solidFill>
                  <a:schemeClr val="accent2"/>
                </a:solidFill>
                <a:latin typeface="Times New Roman" panose="02020603050405020304" pitchFamily="18" charset="0"/>
              </a:rPr>
            </a:br>
            <a:r>
              <a:rPr lang="en-US" altLang="en-US" sz="1400" b="1">
                <a:solidFill>
                  <a:schemeClr val="accent2"/>
                </a:solidFill>
                <a:latin typeface="Times New Roman" panose="02020603050405020304" pitchFamily="18" charset="0"/>
              </a:rPr>
              <a:t/>
            </a:r>
            <a:br>
              <a:rPr lang="en-US" altLang="en-US" sz="1400" b="1">
                <a:solidFill>
                  <a:schemeClr val="accent2"/>
                </a:solidFill>
                <a:latin typeface="Times New Roman" panose="02020603050405020304" pitchFamily="18" charset="0"/>
              </a:rPr>
            </a:br>
            <a:endParaRPr lang="en-US" altLang="en-US" sz="1400" b="1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5" name="Text Box 15"/>
          <p:cNvSpPr txBox="1">
            <a:spLocks noChangeArrowheads="1"/>
          </p:cNvSpPr>
          <p:nvPr/>
        </p:nvSpPr>
        <p:spPr bwMode="auto">
          <a:xfrm>
            <a:off x="609600" y="1143000"/>
            <a:ext cx="7924800" cy="738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b="1">
                <a:solidFill>
                  <a:schemeClr val="accent2"/>
                </a:solidFill>
                <a:latin typeface="Times New Roman" panose="02020603050405020304" pitchFamily="18" charset="0"/>
              </a:rPr>
              <a:t>2. Copy following files to &lt;Work_dir&gt;</a:t>
            </a:r>
            <a:br>
              <a:rPr lang="en-US" altLang="en-US" sz="1400" b="1">
                <a:solidFill>
                  <a:schemeClr val="accent2"/>
                </a:solidFill>
                <a:latin typeface="Times New Roman" panose="02020603050405020304" pitchFamily="18" charset="0"/>
              </a:rPr>
            </a:br>
            <a:r>
              <a:rPr lang="en-US" altLang="en-US" sz="1400" b="1">
                <a:solidFill>
                  <a:schemeClr val="accent2"/>
                </a:solidFill>
                <a:latin typeface="Times New Roman" panose="02020603050405020304" pitchFamily="18" charset="0"/>
              </a:rPr>
              <a:t/>
            </a:r>
            <a:br>
              <a:rPr lang="en-US" altLang="en-US" sz="1400" b="1">
                <a:solidFill>
                  <a:schemeClr val="accent2"/>
                </a:solidFill>
                <a:latin typeface="Times New Roman" panose="02020603050405020304" pitchFamily="18" charset="0"/>
              </a:rPr>
            </a:br>
            <a:r>
              <a:rPr lang="en-US" altLang="en-US" sz="1400" b="1">
                <a:solidFill>
                  <a:schemeClr val="accent2"/>
                </a:solidFill>
                <a:latin typeface="Times New Roman" panose="02020603050405020304" pitchFamily="18" charset="0"/>
              </a:rPr>
              <a:t>	soapcpp2 wsdl2h stdsoap2.c stdsoap2.h</a:t>
            </a:r>
          </a:p>
        </p:txBody>
      </p:sp>
      <p:sp>
        <p:nvSpPr>
          <p:cNvPr id="3076" name="Rectangle 16"/>
          <p:cNvSpPr>
            <a:spLocks noChangeArrowheads="1"/>
          </p:cNvSpPr>
          <p:nvPr/>
        </p:nvSpPr>
        <p:spPr bwMode="auto">
          <a:xfrm>
            <a:off x="685800" y="2057400"/>
            <a:ext cx="8229600" cy="3232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accent2"/>
                </a:solidFill>
                <a:latin typeface="Times New Roman" panose="02020603050405020304" pitchFamily="18" charset="0"/>
              </a:rPr>
              <a:t>vzluvdev01 arai [linux386] $  pwd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accent2"/>
                </a:solidFill>
                <a:latin typeface="Times New Roman" panose="02020603050405020304" pitchFamily="18" charset="0"/>
              </a:rPr>
              <a:t>/home/people/arai/vaibhav/gsoap-2.8/gsoap/bin/linux386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accent2"/>
                </a:solidFill>
                <a:latin typeface="Times New Roman" panose="02020603050405020304" pitchFamily="18" charset="0"/>
              </a:rPr>
              <a:t>plmpapp2c3 omf9dev [webservice_partRevdetails] $ pwd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accent2"/>
                </a:solidFill>
                <a:latin typeface="Times New Roman" panose="02020603050405020304" pitchFamily="18" charset="0"/>
              </a:rPr>
              <a:t>/user/omf9dev/devgroups/rsm/webservice_partRevdetails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accent2"/>
                </a:solidFill>
                <a:latin typeface="Times New Roman" panose="02020603050405020304" pitchFamily="18" charset="0"/>
              </a:rPr>
              <a:t>plmpapp2c3 omf9dev [webservice_partRevdetails] $ scp arai@172.22.97.92:/home/people/arai/vaibhav/gsoap-2.8/gsoap/bin/linux386/wsdl2h 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accent2"/>
                </a:solidFill>
                <a:latin typeface="Times New Roman" panose="02020603050405020304" pitchFamily="18" charset="0"/>
              </a:rPr>
              <a:t>plmpapp2c3 omf9dev [webservice_partRevdetails] $ scp arai@172.22.97.92:/home/people/arai/vaibhav/gsoap-2.8/gsoap/bin/linux386/wsdl2h 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accent2"/>
                </a:solidFill>
                <a:latin typeface="Times New Roman" panose="02020603050405020304" pitchFamily="18" charset="0"/>
              </a:rPr>
              <a:t>plmpapp2c3 omf9dev [webservice_partRevdetails] $ scp arai@172.22.97.92:/home/people/arai/vaibhav/gsoap-2.8/gsoap/bin/linux386/CALC/stdsoap2.c 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accent2"/>
                </a:solidFill>
                <a:latin typeface="Times New Roman" panose="02020603050405020304" pitchFamily="18" charset="0"/>
              </a:rPr>
              <a:t>plmpapp2c3 omf9dev [webservice_partRevdetails] $ scp arai@172.22.97.92:/home/people/arai/vaibhav/gsoap-2.8/gsoap/bin/linux386/CALC/stdsoap2.h .</a:t>
            </a:r>
          </a:p>
        </p:txBody>
      </p:sp>
      <p:sp>
        <p:nvSpPr>
          <p:cNvPr id="3077" name="Rectangle 17"/>
          <p:cNvSpPr>
            <a:spLocks noChangeArrowheads="1"/>
          </p:cNvSpPr>
          <p:nvPr/>
        </p:nvSpPr>
        <p:spPr bwMode="auto">
          <a:xfrm>
            <a:off x="8458200" y="6400800"/>
            <a:ext cx="381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chemeClr val="accent2"/>
                </a:solidFill>
                <a:latin typeface="Times New Roman" panose="02020603050405020304" pitchFamily="18" charset="0"/>
              </a:rPr>
              <a:t>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5"/>
          <p:cNvSpPr>
            <a:spLocks noChangeArrowheads="1"/>
          </p:cNvSpPr>
          <p:nvPr>
            <p:ph type="title"/>
          </p:nvPr>
        </p:nvSpPr>
        <p:spPr>
          <a:xfrm>
            <a:off x="457200" y="228600"/>
            <a:ext cx="3200400" cy="838200"/>
          </a:xfrm>
          <a:noFill/>
        </p:spPr>
        <p:txBody>
          <a:bodyPr/>
          <a:lstStyle/>
          <a:p>
            <a:pPr algn="l" eaLnBrk="1" hangingPunct="1">
              <a:spcBef>
                <a:spcPct val="50000"/>
              </a:spcBef>
            </a:pPr>
            <a:r>
              <a:rPr lang="en-US" altLang="en-US" sz="1400" b="1" smtClean="0">
                <a:solidFill>
                  <a:schemeClr val="accent2"/>
                </a:solidFill>
                <a:latin typeface="Times New Roman" panose="02020603050405020304" pitchFamily="18" charset="0"/>
              </a:rPr>
              <a:t>3. Writing WEB SERVICES Code</a:t>
            </a:r>
          </a:p>
        </p:txBody>
      </p:sp>
      <p:sp>
        <p:nvSpPr>
          <p:cNvPr id="4099" name="Rectangle 7"/>
          <p:cNvSpPr>
            <a:spLocks noChangeArrowheads="1"/>
          </p:cNvSpPr>
          <p:nvPr/>
        </p:nvSpPr>
        <p:spPr bwMode="auto">
          <a:xfrm>
            <a:off x="609600" y="914400"/>
            <a:ext cx="76200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accent2"/>
                </a:solidFill>
                <a:latin typeface="Times New Roman" panose="02020603050405020304" pitchFamily="18" charset="0"/>
              </a:rPr>
              <a:t>i)  Create a header file “PartRevDetails.h” with following parameters</a:t>
            </a:r>
          </a:p>
        </p:txBody>
      </p:sp>
      <p:sp>
        <p:nvSpPr>
          <p:cNvPr id="4100" name="Rectangle 11"/>
          <p:cNvSpPr>
            <a:spLocks noChangeArrowheads="1"/>
          </p:cNvSpPr>
          <p:nvPr/>
        </p:nvSpPr>
        <p:spPr bwMode="auto">
          <a:xfrm>
            <a:off x="609600" y="2819400"/>
            <a:ext cx="7543800" cy="83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accent2"/>
                </a:solidFill>
                <a:latin typeface="Times New Roman" panose="02020603050405020304" pitchFamily="18" charset="0"/>
              </a:rPr>
              <a:t>ii) Write your intended function in header file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accent2"/>
                </a:solidFill>
                <a:latin typeface="Times New Roman" panose="02020603050405020304" pitchFamily="18" charset="0"/>
              </a:rPr>
              <a:t> int ns__PartRevEnquiry(char *PartNumber, char *Revision,char *Sequence,struct ns__CharArray *aString);</a:t>
            </a:r>
          </a:p>
        </p:txBody>
      </p:sp>
      <p:sp>
        <p:nvSpPr>
          <p:cNvPr id="4101" name="Rectangle 17"/>
          <p:cNvSpPr>
            <a:spLocks noChangeArrowheads="1"/>
          </p:cNvSpPr>
          <p:nvPr/>
        </p:nvSpPr>
        <p:spPr bwMode="auto">
          <a:xfrm>
            <a:off x="914400" y="1447800"/>
            <a:ext cx="7467600" cy="138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accent2"/>
                </a:solidFill>
                <a:latin typeface="Times New Roman" panose="02020603050405020304" pitchFamily="18" charset="0"/>
              </a:rPr>
              <a:t>//gsoap ns service name:			PartRevDetails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accent2"/>
                </a:solidFill>
                <a:latin typeface="Times New Roman" panose="02020603050405020304" pitchFamily="18" charset="0"/>
              </a:rPr>
              <a:t>//gsoap ns service style:			rpc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accent2"/>
                </a:solidFill>
                <a:latin typeface="Times New Roman" panose="02020603050405020304" pitchFamily="18" charset="0"/>
              </a:rPr>
              <a:t>//gsoap ns service namespace:		urn:PartRevDetails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accent2"/>
                </a:solidFill>
                <a:latin typeface="Times New Roman" panose="02020603050405020304" pitchFamily="18" charset="0"/>
              </a:rPr>
              <a:t>//gsoap ns service location:			http://</a:t>
            </a:r>
            <a:r>
              <a:rPr lang="en-US" altLang="en-US" sz="1200">
                <a:solidFill>
                  <a:srgbClr val="990000"/>
                </a:solidFill>
                <a:latin typeface="Times New Roman" panose="02020603050405020304" pitchFamily="18" charset="0"/>
              </a:rPr>
              <a:t>172.22.97.8</a:t>
            </a:r>
            <a:r>
              <a:rPr lang="en-US" altLang="en-US" sz="1200">
                <a:solidFill>
                  <a:schemeClr val="accent2"/>
                </a:solidFill>
                <a:latin typeface="Times New Roman" panose="02020603050405020304" pitchFamily="18" charset="0"/>
              </a:rPr>
              <a:t>:9010/cgi/PartRevDetails.cgi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accent2"/>
                </a:solidFill>
                <a:latin typeface="Times New Roman" panose="02020603050405020304" pitchFamily="18" charset="0"/>
              </a:rPr>
              <a:t>//gsoap ns service encoding:			encoded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accent2"/>
                </a:solidFill>
                <a:latin typeface="Times New Roman" panose="02020603050405020304" pitchFamily="18" charset="0"/>
              </a:rPr>
              <a:t>//gsoap ns schema namespace:		urn:PartRevDetails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accent2"/>
                </a:solidFill>
                <a:latin typeface="Times New Roman" panose="02020603050405020304" pitchFamily="18" charset="0"/>
              </a:rPr>
              <a:t>//gsoap ns service method-documentation: Tests the Simple Web service</a:t>
            </a:r>
          </a:p>
        </p:txBody>
      </p:sp>
      <p:sp>
        <p:nvSpPr>
          <p:cNvPr id="4102" name="AutoShape 22"/>
          <p:cNvSpPr>
            <a:spLocks noChangeArrowheads="1"/>
          </p:cNvSpPr>
          <p:nvPr/>
        </p:nvSpPr>
        <p:spPr bwMode="auto">
          <a:xfrm>
            <a:off x="5791200" y="1603375"/>
            <a:ext cx="1371600" cy="228600"/>
          </a:xfrm>
          <a:prstGeom prst="wedgeRoundRectCallout">
            <a:avLst>
              <a:gd name="adj1" fmla="val -46991"/>
              <a:gd name="adj2" fmla="val 153472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chemeClr val="accent2"/>
                </a:solidFill>
                <a:latin typeface="Times New Roman" panose="02020603050405020304" pitchFamily="18" charset="0"/>
              </a:rPr>
              <a:t>Server Address</a:t>
            </a:r>
          </a:p>
        </p:txBody>
      </p:sp>
      <p:sp>
        <p:nvSpPr>
          <p:cNvPr id="4103" name="AutoShape 23"/>
          <p:cNvSpPr>
            <a:spLocks/>
          </p:cNvSpPr>
          <p:nvPr/>
        </p:nvSpPr>
        <p:spPr bwMode="auto">
          <a:xfrm rot="-5400000">
            <a:off x="3425825" y="4343400"/>
            <a:ext cx="381000" cy="2514600"/>
          </a:xfrm>
          <a:prstGeom prst="leftBrace">
            <a:avLst>
              <a:gd name="adj1" fmla="val 57292"/>
              <a:gd name="adj2" fmla="val 50176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/>
          </a:p>
        </p:txBody>
      </p:sp>
      <p:sp>
        <p:nvSpPr>
          <p:cNvPr id="4104" name="Oval 24"/>
          <p:cNvSpPr>
            <a:spLocks noChangeArrowheads="1"/>
          </p:cNvSpPr>
          <p:nvPr/>
        </p:nvSpPr>
        <p:spPr bwMode="auto">
          <a:xfrm>
            <a:off x="3502025" y="5791200"/>
            <a:ext cx="14478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chemeClr val="accent2"/>
                </a:solidFill>
                <a:latin typeface="Times New Roman" panose="02020603050405020304" pitchFamily="18" charset="0"/>
              </a:rPr>
              <a:t>Input parameter for Web Services</a:t>
            </a:r>
          </a:p>
        </p:txBody>
      </p:sp>
      <p:sp>
        <p:nvSpPr>
          <p:cNvPr id="4105" name="Line 25"/>
          <p:cNvSpPr>
            <a:spLocks noChangeShapeType="1"/>
          </p:cNvSpPr>
          <p:nvPr/>
        </p:nvSpPr>
        <p:spPr bwMode="auto">
          <a:xfrm flipH="1" flipV="1">
            <a:off x="5788025" y="5410200"/>
            <a:ext cx="457200" cy="352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6" name="Oval 26"/>
          <p:cNvSpPr>
            <a:spLocks noChangeArrowheads="1"/>
          </p:cNvSpPr>
          <p:nvPr/>
        </p:nvSpPr>
        <p:spPr bwMode="auto">
          <a:xfrm>
            <a:off x="6096000" y="5762625"/>
            <a:ext cx="10668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chemeClr val="accent2"/>
                </a:solidFill>
                <a:latin typeface="Times New Roman" panose="02020603050405020304" pitchFamily="18" charset="0"/>
              </a:rPr>
              <a:t>Output of Web Services</a:t>
            </a:r>
          </a:p>
        </p:txBody>
      </p:sp>
      <p:pic>
        <p:nvPicPr>
          <p:cNvPr id="4107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3803650"/>
            <a:ext cx="5788025" cy="160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8" name="Rectangle 17"/>
          <p:cNvSpPr>
            <a:spLocks noChangeArrowheads="1"/>
          </p:cNvSpPr>
          <p:nvPr/>
        </p:nvSpPr>
        <p:spPr bwMode="auto">
          <a:xfrm>
            <a:off x="8458200" y="6400800"/>
            <a:ext cx="381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chemeClr val="accent2"/>
                </a:solidFill>
                <a:latin typeface="Times New Roman" panose="02020603050405020304" pitchFamily="18" charset="0"/>
              </a:rPr>
              <a:t>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5"/>
          <p:cNvSpPr>
            <a:spLocks noChangeArrowheads="1"/>
          </p:cNvSpPr>
          <p:nvPr/>
        </p:nvSpPr>
        <p:spPr bwMode="auto">
          <a:xfrm>
            <a:off x="457200" y="533400"/>
            <a:ext cx="7924800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accent2"/>
                </a:solidFill>
                <a:latin typeface="Times New Roman" panose="02020603050405020304" pitchFamily="18" charset="0"/>
              </a:rPr>
              <a:t>iii) Use soapcpp2 tool to compile header file and create supporting files. Command for compiling header file :-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accent2"/>
                </a:solidFill>
                <a:latin typeface="Times New Roman" panose="02020603050405020304" pitchFamily="18" charset="0"/>
              </a:rPr>
              <a:t>	soapcpp2  -1 -e -c PartRevDetails.h</a:t>
            </a:r>
          </a:p>
        </p:txBody>
      </p:sp>
      <p:sp>
        <p:nvSpPr>
          <p:cNvPr id="5123" name="Rectangle 6"/>
          <p:cNvSpPr>
            <a:spLocks noChangeArrowheads="1"/>
          </p:cNvSpPr>
          <p:nvPr/>
        </p:nvSpPr>
        <p:spPr bwMode="auto">
          <a:xfrm>
            <a:off x="457200" y="1371600"/>
            <a:ext cx="7010400" cy="83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accent2"/>
                </a:solidFill>
                <a:latin typeface="Times New Roman" panose="02020603050405020304" pitchFamily="18" charset="0"/>
              </a:rPr>
              <a:t>iv) Create C file that will contain the definition of the function. Please include below header files.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accent2"/>
                </a:solidFill>
                <a:latin typeface="Times New Roman" panose="02020603050405020304" pitchFamily="18" charset="0"/>
              </a:rPr>
              <a:t>		#include "soapH.h"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accent2"/>
                </a:solidFill>
                <a:latin typeface="Times New Roman" panose="02020603050405020304" pitchFamily="18" charset="0"/>
              </a:rPr>
              <a:t>		#include "PartRevDetails.nsmap" // your nsmap file</a:t>
            </a:r>
          </a:p>
        </p:txBody>
      </p:sp>
      <p:sp>
        <p:nvSpPr>
          <p:cNvPr id="5124" name="Rectangle 7"/>
          <p:cNvSpPr>
            <a:spLocks noChangeArrowheads="1"/>
          </p:cNvSpPr>
          <p:nvPr/>
        </p:nvSpPr>
        <p:spPr bwMode="auto">
          <a:xfrm>
            <a:off x="457200" y="2362200"/>
            <a:ext cx="80772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chemeClr val="accent2"/>
                </a:solidFill>
                <a:latin typeface="Times New Roman" panose="02020603050405020304" pitchFamily="18" charset="0"/>
              </a:rPr>
              <a:t>v) Replace following line in </a:t>
            </a:r>
            <a:r>
              <a:rPr lang="en-US" altLang="en-US" sz="1200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def</a:t>
            </a:r>
            <a:r>
              <a:rPr lang="en-US" altLang="en-US" sz="1200" dirty="0">
                <a:solidFill>
                  <a:schemeClr val="accent2"/>
                </a:solidFill>
                <a:latin typeface="Times New Roman" panose="02020603050405020304" pitchFamily="18" charset="0"/>
              </a:rPr>
              <a:t> file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 dirty="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chemeClr val="accent2"/>
                </a:solidFill>
                <a:latin typeface="Times New Roman" panose="02020603050405020304" pitchFamily="18" charset="0"/>
              </a:rPr>
              <a:t>### $CC_ANSI -o $PROG_NAME $</a:t>
            </a:r>
            <a:r>
              <a:rPr lang="en-US" altLang="en-US" sz="1200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PROG_NAME.o</a:t>
            </a:r>
            <a:r>
              <a:rPr lang="en-US" altLang="en-US" sz="1200" dirty="0">
                <a:solidFill>
                  <a:schemeClr val="accent2"/>
                </a:solidFill>
                <a:latin typeface="Times New Roman" panose="02020603050405020304" pitchFamily="18" charset="0"/>
              </a:rPr>
              <a:t> $* -</a:t>
            </a:r>
            <a:r>
              <a:rPr lang="en-US" altLang="en-US" sz="1200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lmalloc_cv</a:t>
            </a:r>
            <a:r>
              <a:rPr lang="en-US" altLang="en-US" sz="1200" dirty="0">
                <a:solidFill>
                  <a:schemeClr val="accent2"/>
                </a:solidFill>
                <a:latin typeface="Times New Roman" panose="02020603050405020304" pitchFamily="18" charset="0"/>
              </a:rPr>
              <a:t> -</a:t>
            </a:r>
            <a:r>
              <a:rPr lang="en-US" altLang="en-US" sz="1200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lmalloc_ss</a:t>
            </a:r>
            <a:r>
              <a:rPr lang="en-US" altLang="en-US" sz="1200" dirty="0">
                <a:solidFill>
                  <a:schemeClr val="accent2"/>
                </a:solidFill>
                <a:latin typeface="Times New Roman" panose="02020603050405020304" pitchFamily="18" charset="0"/>
              </a:rPr>
              <a:t>    $LIBS &lt;----------- line to be replaced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 dirty="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chemeClr val="accent2"/>
                </a:solidFill>
                <a:latin typeface="Times New Roman" panose="02020603050405020304" pitchFamily="18" charset="0"/>
              </a:rPr>
              <a:t>$CC_ANSI -o $</a:t>
            </a:r>
            <a:r>
              <a:rPr lang="en-US" altLang="en-US" sz="1200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PROG_NAME.cgi</a:t>
            </a:r>
            <a:r>
              <a:rPr lang="en-US" altLang="en-US" sz="1200" dirty="0">
                <a:solidFill>
                  <a:schemeClr val="accent2"/>
                </a:solidFill>
                <a:latin typeface="Times New Roman" panose="02020603050405020304" pitchFamily="18" charset="0"/>
              </a:rPr>
              <a:t> $</a:t>
            </a:r>
            <a:r>
              <a:rPr lang="en-US" altLang="en-US" sz="1200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PROG_NAME.o</a:t>
            </a:r>
            <a:r>
              <a:rPr lang="en-US" altLang="en-US" sz="1200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200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soapC.c</a:t>
            </a:r>
            <a:r>
              <a:rPr lang="en-US" altLang="en-US" sz="1200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200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soapServer.c</a:t>
            </a:r>
            <a:r>
              <a:rPr lang="en-US" altLang="en-US" sz="1200" dirty="0">
                <a:solidFill>
                  <a:schemeClr val="accent2"/>
                </a:solidFill>
                <a:latin typeface="Times New Roman" panose="02020603050405020304" pitchFamily="18" charset="0"/>
              </a:rPr>
              <a:t> stdsoap2.c $* $LIBS &lt;----------- new line to be added</a:t>
            </a:r>
          </a:p>
        </p:txBody>
      </p:sp>
      <p:sp>
        <p:nvSpPr>
          <p:cNvPr id="5125" name="Rectangle 8"/>
          <p:cNvSpPr>
            <a:spLocks noChangeArrowheads="1"/>
          </p:cNvSpPr>
          <p:nvPr/>
        </p:nvSpPr>
        <p:spPr bwMode="auto">
          <a:xfrm>
            <a:off x="457200" y="3810000"/>
            <a:ext cx="7162800" cy="83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accent2"/>
                </a:solidFill>
                <a:latin typeface="Times New Roman" panose="02020603050405020304" pitchFamily="18" charset="0"/>
              </a:rPr>
              <a:t>vi) In case of client code use normal compilation procedure. (make binclobber, cnvdef, make init ,make all)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accent2"/>
                </a:solidFill>
                <a:latin typeface="Times New Roman" panose="02020603050405020304" pitchFamily="18" charset="0"/>
              </a:rPr>
              <a:t>     In case of pure c code use following compilation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accent2"/>
                </a:solidFill>
                <a:latin typeface="Times New Roman" panose="02020603050405020304" pitchFamily="18" charset="0"/>
              </a:rPr>
              <a:t>	cc  -o PartRevDetails.cgi PartRevDetailsc soapC.c soapServer.c stdsoap2.c</a:t>
            </a:r>
          </a:p>
        </p:txBody>
      </p:sp>
      <p:sp>
        <p:nvSpPr>
          <p:cNvPr id="5126" name="Rectangle 9"/>
          <p:cNvSpPr>
            <a:spLocks noChangeArrowheads="1"/>
          </p:cNvSpPr>
          <p:nvPr/>
        </p:nvSpPr>
        <p:spPr bwMode="auto">
          <a:xfrm>
            <a:off x="457200" y="4724400"/>
            <a:ext cx="8229600" cy="1570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accent2"/>
                </a:solidFill>
                <a:latin typeface="Times New Roman" panose="02020603050405020304" pitchFamily="18" charset="0"/>
              </a:rPr>
              <a:t>vii) To test exe file use following command.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accent2"/>
                </a:solidFill>
                <a:latin typeface="Times New Roman" panose="02020603050405020304" pitchFamily="18" charset="0"/>
              </a:rPr>
              <a:t>	PartRevDetails.cgi &lt; PartRevDetails.getResponse.req.xml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accent2"/>
                </a:solidFill>
                <a:latin typeface="Times New Roman" panose="02020603050405020304" pitchFamily="18" charset="0"/>
              </a:rPr>
              <a:t>Before running above command we need to modify PartRevDetails.getResponse.req.xml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accent2"/>
                </a:solidFill>
                <a:latin typeface="Times New Roman" panose="02020603050405020304" pitchFamily="18" charset="0"/>
              </a:rPr>
              <a:t>based on passed input parameter.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accent2"/>
                </a:solidFill>
                <a:latin typeface="Times New Roman" panose="02020603050405020304" pitchFamily="18" charset="0"/>
              </a:rPr>
              <a:t>After successful execution of above command ,we will get the output.</a:t>
            </a:r>
          </a:p>
        </p:txBody>
      </p:sp>
      <p:sp>
        <p:nvSpPr>
          <p:cNvPr id="5127" name="Rectangle 17"/>
          <p:cNvSpPr>
            <a:spLocks noChangeArrowheads="1"/>
          </p:cNvSpPr>
          <p:nvPr/>
        </p:nvSpPr>
        <p:spPr bwMode="auto">
          <a:xfrm>
            <a:off x="8458200" y="6400800"/>
            <a:ext cx="228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chemeClr val="accent2"/>
                </a:solidFill>
                <a:latin typeface="Times New Roman" panose="02020603050405020304" pitchFamily="18" charset="0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5"/>
          <p:cNvSpPr>
            <a:spLocks noChangeArrowheads="1"/>
          </p:cNvSpPr>
          <p:nvPr/>
        </p:nvSpPr>
        <p:spPr bwMode="auto">
          <a:xfrm>
            <a:off x="457200" y="457200"/>
            <a:ext cx="7696200" cy="1570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accent2"/>
                </a:solidFill>
                <a:latin typeface="Times New Roman" panose="02020603050405020304" pitchFamily="18" charset="0"/>
              </a:rPr>
              <a:t>viii) Copy PartRevDetails.wsdl file to  ROOT directory in apache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accent2"/>
                </a:solidFill>
                <a:latin typeface="Times New Roman" panose="02020603050405020304" pitchFamily="18" charset="0"/>
              </a:rPr>
              <a:t>	application_server/apache-tomcat-6.0.29/webapps/ROOT/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accent2"/>
                </a:solidFill>
                <a:latin typeface="Times New Roman" panose="02020603050405020304" pitchFamily="18" charset="0"/>
              </a:rPr>
              <a:t>   Copy PartRevDetails.cgi, PartRevDetails.PartRevEnquiry.res.xml and PartRevDetails.PartRevEnquiry.req.xml to following directory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accent2"/>
                </a:solidFill>
                <a:latin typeface="Times New Roman" panose="02020603050405020304" pitchFamily="18" charset="0"/>
              </a:rPr>
              <a:t>	application_server/apache-tomcat-6.0.29/webapps/ROOT/WEB-INF/cgi</a:t>
            </a:r>
          </a:p>
        </p:txBody>
      </p:sp>
      <p:sp>
        <p:nvSpPr>
          <p:cNvPr id="6147" name="Rectangle 6"/>
          <p:cNvSpPr>
            <a:spLocks noChangeArrowheads="1"/>
          </p:cNvSpPr>
          <p:nvPr/>
        </p:nvSpPr>
        <p:spPr bwMode="auto">
          <a:xfrm>
            <a:off x="457200" y="2209800"/>
            <a:ext cx="7086600" cy="100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accent2"/>
                </a:solidFill>
                <a:latin typeface="Times New Roman" panose="02020603050405020304" pitchFamily="18" charset="0"/>
              </a:rPr>
              <a:t>ix) After copy of *.wsdl and *.cgi ,go to bin directory of apache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accent2"/>
                </a:solidFill>
                <a:latin typeface="Times New Roman" panose="02020603050405020304" pitchFamily="18" charset="0"/>
              </a:rPr>
              <a:t>   application_server/apache-tomcat-6.0.29/bin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accent2"/>
                </a:solidFill>
                <a:latin typeface="Times New Roman" panose="02020603050405020304" pitchFamily="18" charset="0"/>
              </a:rPr>
              <a:t>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chemeClr val="accent2"/>
                </a:solidFill>
                <a:latin typeface="Times New Roman" panose="02020603050405020304" pitchFamily="18" charset="0"/>
              </a:rPr>
              <a:t> Run shutdown.sh and then startup.sh to restart apache server.</a:t>
            </a:r>
          </a:p>
        </p:txBody>
      </p:sp>
      <p:sp>
        <p:nvSpPr>
          <p:cNvPr id="6148" name="Rectangle 17"/>
          <p:cNvSpPr>
            <a:spLocks noChangeArrowheads="1"/>
          </p:cNvSpPr>
          <p:nvPr/>
        </p:nvSpPr>
        <p:spPr bwMode="auto">
          <a:xfrm>
            <a:off x="8458200" y="6400800"/>
            <a:ext cx="228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chemeClr val="accent2"/>
                </a:solidFill>
                <a:latin typeface="Times New Roman" panose="02020603050405020304" pitchFamily="18" charset="0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/>
          <p:cNvSpPr>
            <a:spLocks noGrp="1" noChangeArrowheads="1"/>
          </p:cNvSpPr>
          <p:nvPr>
            <p:ph type="title"/>
          </p:nvPr>
        </p:nvSpPr>
        <p:spPr>
          <a:xfrm>
            <a:off x="381000" y="369888"/>
            <a:ext cx="6096000" cy="563562"/>
          </a:xfrm>
        </p:spPr>
        <p:txBody>
          <a:bodyPr/>
          <a:lstStyle/>
          <a:p>
            <a:pPr algn="l" eaLnBrk="1" hangingPunct="1"/>
            <a:r>
              <a:rPr lang="en-US" altLang="en-US" sz="1400" b="1" smtClean="0">
                <a:solidFill>
                  <a:schemeClr val="accent2"/>
                </a:solidFill>
                <a:latin typeface="Times New Roman" panose="02020603050405020304" pitchFamily="18" charset="0"/>
              </a:rPr>
              <a:t>4. Download and install SoapUI Tool for web service testing on PC</a:t>
            </a:r>
          </a:p>
        </p:txBody>
      </p:sp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685800" y="838200"/>
            <a:ext cx="5791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99"/>
                </a:solidFill>
                <a:latin typeface="Times New Roman" panose="02020603050405020304" pitchFamily="18" charset="0"/>
              </a:rPr>
              <a:t>A window will open. Click option “</a:t>
            </a:r>
          </a:p>
        </p:txBody>
      </p:sp>
      <p:pic>
        <p:nvPicPr>
          <p:cNvPr id="717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239838"/>
            <a:ext cx="4848225" cy="157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572000"/>
            <a:ext cx="5314950" cy="203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4" name="AutoShape 13"/>
          <p:cNvSpPr>
            <a:spLocks noChangeArrowheads="1"/>
          </p:cNvSpPr>
          <p:nvPr/>
        </p:nvSpPr>
        <p:spPr bwMode="auto">
          <a:xfrm>
            <a:off x="4038600" y="3619500"/>
            <a:ext cx="1219200" cy="304800"/>
          </a:xfrm>
          <a:prstGeom prst="wedgeRoundRectCallout">
            <a:avLst>
              <a:gd name="adj1" fmla="val -56903"/>
              <a:gd name="adj2" fmla="val 586981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800">
                <a:solidFill>
                  <a:schemeClr val="accent2"/>
                </a:solidFill>
                <a:latin typeface="Times New Roman" panose="02020603050405020304" pitchFamily="18" charset="0"/>
              </a:rPr>
              <a:t>Enter WSDL Address</a:t>
            </a:r>
          </a:p>
        </p:txBody>
      </p:sp>
      <p:sp>
        <p:nvSpPr>
          <p:cNvPr id="7175" name="Rectangle 4"/>
          <p:cNvSpPr txBox="1">
            <a:spLocks noChangeArrowheads="1"/>
          </p:cNvSpPr>
          <p:nvPr/>
        </p:nvSpPr>
        <p:spPr bwMode="auto">
          <a:xfrm>
            <a:off x="668338" y="2941638"/>
            <a:ext cx="8229600" cy="715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99"/>
                </a:solidFill>
                <a:latin typeface="Times New Roman" panose="02020603050405020304" pitchFamily="18" charset="0"/>
              </a:rPr>
              <a:t>A window gets opened as shown below.</a:t>
            </a:r>
            <a:br>
              <a:rPr lang="en-US" altLang="en-US" sz="1200">
                <a:solidFill>
                  <a:srgbClr val="000099"/>
                </a:solidFill>
                <a:latin typeface="Times New Roman" panose="02020603050405020304" pitchFamily="18" charset="0"/>
              </a:rPr>
            </a:br>
            <a:r>
              <a:rPr lang="en-US" altLang="en-US" sz="1200">
                <a:solidFill>
                  <a:srgbClr val="000099"/>
                </a:solidFill>
                <a:latin typeface="Times New Roman" panose="02020603050405020304" pitchFamily="18" charset="0"/>
              </a:rPr>
              <a:t>Enter the given URL </a:t>
            </a:r>
            <a:r>
              <a:rPr lang="en-US" altLang="en-US" sz="1200">
                <a:solidFill>
                  <a:schemeClr val="accent2"/>
                </a:solidFill>
                <a:latin typeface="Times New Roman" panose="02020603050405020304" pitchFamily="18" charset="0"/>
              </a:rPr>
              <a:t>http://172.22.97.8:9010/PartRevDetails.wsdl</a:t>
            </a:r>
            <a:r>
              <a:rPr lang="en-US" altLang="en-US" sz="12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200">
                <a:solidFill>
                  <a:srgbClr val="000099"/>
                </a:solidFill>
                <a:latin typeface="Times New Roman" panose="02020603050405020304" pitchFamily="18" charset="0"/>
              </a:rPr>
              <a:t>on “Initial WSDL”.</a:t>
            </a:r>
            <a:br>
              <a:rPr lang="en-US" altLang="en-US" sz="1200">
                <a:solidFill>
                  <a:srgbClr val="000099"/>
                </a:solidFill>
                <a:latin typeface="Times New Roman" panose="02020603050405020304" pitchFamily="18" charset="0"/>
              </a:rPr>
            </a:br>
            <a:r>
              <a:rPr lang="en-US" altLang="en-US" sz="1200">
                <a:solidFill>
                  <a:srgbClr val="000099"/>
                </a:solidFill>
                <a:latin typeface="Times New Roman" panose="02020603050405020304" pitchFamily="18" charset="0"/>
              </a:rPr>
              <a:t>After entering “Initial WSDL” click on “OK”</a:t>
            </a:r>
          </a:p>
        </p:txBody>
      </p:sp>
      <p:pic>
        <p:nvPicPr>
          <p:cNvPr id="7176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75" y="5556250"/>
            <a:ext cx="3571875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7" name="Rectangle 17"/>
          <p:cNvSpPr>
            <a:spLocks noChangeArrowheads="1"/>
          </p:cNvSpPr>
          <p:nvPr/>
        </p:nvSpPr>
        <p:spPr bwMode="auto">
          <a:xfrm>
            <a:off x="8458200" y="6400800"/>
            <a:ext cx="228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chemeClr val="accent2"/>
                </a:solidFill>
                <a:latin typeface="Times New Roman" panose="02020603050405020304" pitchFamily="18" charset="0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304800"/>
          </a:xfrm>
        </p:spPr>
        <p:txBody>
          <a:bodyPr/>
          <a:lstStyle/>
          <a:p>
            <a:pPr algn="l" eaLnBrk="1" hangingPunct="1"/>
            <a:r>
              <a:rPr lang="en-US" altLang="en-US" sz="1200" smtClean="0">
                <a:solidFill>
                  <a:srgbClr val="000099"/>
                </a:solidFill>
                <a:latin typeface="Times New Roman" panose="02020603050405020304" pitchFamily="18" charset="0"/>
              </a:rPr>
              <a:t>Double click on option “Request 1” from Project tree. Request 1 window will appear in right.</a:t>
            </a:r>
            <a:br>
              <a:rPr lang="en-US" altLang="en-US" sz="1200" smtClean="0">
                <a:solidFill>
                  <a:srgbClr val="000099"/>
                </a:solidFill>
                <a:latin typeface="Times New Roman" panose="02020603050405020304" pitchFamily="18" charset="0"/>
              </a:rPr>
            </a:br>
            <a:r>
              <a:rPr lang="en-US" altLang="en-US" sz="1200" smtClean="0">
                <a:solidFill>
                  <a:srgbClr val="000099"/>
                </a:solidFill>
                <a:latin typeface="Times New Roman" panose="02020603050405020304" pitchFamily="18" charset="0"/>
              </a:rPr>
              <a:t>Fill all input details and click on green arrow to execute web service.</a:t>
            </a:r>
          </a:p>
        </p:txBody>
      </p:sp>
      <p:pic>
        <p:nvPicPr>
          <p:cNvPr id="8195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295400"/>
            <a:ext cx="8763000" cy="331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Down Arrow Callout 9"/>
          <p:cNvSpPr/>
          <p:nvPr/>
        </p:nvSpPr>
        <p:spPr>
          <a:xfrm>
            <a:off x="6781800" y="1143000"/>
            <a:ext cx="1143000" cy="1066800"/>
          </a:xfrm>
          <a:prstGeom prst="downArrowCallou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Output Response of webservice</a:t>
            </a:r>
          </a:p>
        </p:txBody>
      </p:sp>
      <p:sp>
        <p:nvSpPr>
          <p:cNvPr id="16" name="Down Arrow Callout 15"/>
          <p:cNvSpPr/>
          <p:nvPr/>
        </p:nvSpPr>
        <p:spPr>
          <a:xfrm>
            <a:off x="2819400" y="990600"/>
            <a:ext cx="1143000" cy="1066800"/>
          </a:xfrm>
          <a:prstGeom prst="downArrowCallou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Input Response of webservice</a:t>
            </a:r>
          </a:p>
        </p:txBody>
      </p:sp>
      <p:sp>
        <p:nvSpPr>
          <p:cNvPr id="8198" name="Rectangle 17"/>
          <p:cNvSpPr>
            <a:spLocks noChangeArrowheads="1"/>
          </p:cNvSpPr>
          <p:nvPr/>
        </p:nvSpPr>
        <p:spPr bwMode="auto">
          <a:xfrm>
            <a:off x="8458200" y="6400800"/>
            <a:ext cx="228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chemeClr val="accent2"/>
                </a:solidFill>
                <a:latin typeface="Times New Roman" panose="02020603050405020304" pitchFamily="18" charset="0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6670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mtClean="0">
                <a:solidFill>
                  <a:schemeClr val="accent2"/>
                </a:solidFill>
                <a:latin typeface="Times New Roman" panose="02020603050405020304" pitchFamily="18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1760</TotalTime>
  <Words>616</Words>
  <Application>Microsoft Office PowerPoint</Application>
  <PresentationFormat>On-screen Show (4:3)</PresentationFormat>
  <Paragraphs>84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Default Design</vt:lpstr>
      <vt:lpstr>STEPS FOR CREATING WEBSERVICES IN PLM-TCE</vt:lpstr>
      <vt:lpstr>PowerPoint Presentation</vt:lpstr>
      <vt:lpstr>3. Writing WEB SERVICES Code</vt:lpstr>
      <vt:lpstr>PowerPoint Presentation</vt:lpstr>
      <vt:lpstr>PowerPoint Presentation</vt:lpstr>
      <vt:lpstr>4. Download and install SoapUI Tool for web service testing on PC</vt:lpstr>
      <vt:lpstr>Double click on option “Request 1” from Project tree. Request 1 window will appear in right. Fill all input details and click on green arrow to execute web service.</vt:lpstr>
      <vt:lpstr>Thank You</vt:lpstr>
    </vt:vector>
  </TitlesOfParts>
  <Company>TATA Motors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dmm06484</dc:creator>
  <cp:lastModifiedBy>SOURAV KARAK (TTL)</cp:lastModifiedBy>
  <cp:revision>40</cp:revision>
  <dcterms:created xsi:type="dcterms:W3CDTF">2013-05-31T11:32:52Z</dcterms:created>
  <dcterms:modified xsi:type="dcterms:W3CDTF">2024-02-06T21:33:24Z</dcterms:modified>
</cp:coreProperties>
</file>